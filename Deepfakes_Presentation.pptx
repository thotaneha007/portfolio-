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4630400" cy="8229600"/>
  <p:notesSz cx="8229600" cy="14630400"/>
  <p:embeddedFontLst>
    <p:embeddedFont>
      <p:font typeface="Kanit Light"/>
      <p:regular r:id="rId16"/>
    </p:embeddedFont>
    <p:embeddedFont>
      <p:font typeface="Kanit Light"/>
      <p:regular r:id="rId17"/>
    </p:embeddedFont>
    <p:embeddedFont>
      <p:font typeface="Kanit Light"/>
      <p:regular r:id="rId18"/>
    </p:embeddedFont>
    <p:embeddedFont>
      <p:font typeface="Kanit Light"/>
      <p:regular r:id="rId19"/>
    </p:embeddedFont>
    <p:embeddedFont>
      <p:font typeface="Martel Sans"/>
      <p:regular r:id="rId20"/>
    </p:embeddedFont>
    <p:embeddedFont>
      <p:font typeface="Martel Sans"/>
      <p:regular r:id="rId21"/>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font" Target="fonts/font1.fntdata"/><Relationship Id="rId17" Type="http://schemas.openxmlformats.org/officeDocument/2006/relationships/font" Target="fonts/font2.fntdata"/><Relationship Id="rId18" Type="http://schemas.openxmlformats.org/officeDocument/2006/relationships/font" Target="fonts/font3.fntdata"/><Relationship Id="rId19" Type="http://schemas.openxmlformats.org/officeDocument/2006/relationships/font" Target="fonts/font4.fntdata"/><Relationship Id="rId20" Type="http://schemas.openxmlformats.org/officeDocument/2006/relationships/font" Target="fonts/font5.fntdata"/><Relationship Id="rId21"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Deepfakes are AI-generated synthetic media - images, videos, or audio that look real but are fake. The term was coined in 2017. Why does this matter? Deepfake content online has grown 550% since 2019. 98% involve non-consensual explicit content. Cybersecurity attacks using deepfakes rose 1,300% annually. The market is growing from $805M in 2023 to projected $6.22B by 2033. Our paper surveys creation methods, detection techniques, and research trends in this rapidly evolving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four main types of deepfake manipulation: Face swapping replaces one person's face with another. Voice cloning creates synthetic speech mimicking real voices. Lip sync matches mouth movements to audio. Full facial synthesis creates entirely AI-generated faces. These use three core architectures: GANs - where a generator and discriminator compete to improve realism. Autoencoders - which learn facial features and can swap identities. And Diffusion Models - the latest approach that produces higher quality results and is hardest to detect.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Deepfakes pose three major threats. First, privacy violation - non-consensual explicit content causes emotional and reputational harm. Second, political misinformation - fake videos of leaders can manipulate elections and public opinion, with psychological impact lasting even after deletion. Third, financial fraud - deepfake audio and video can impersonate executives or family members to steal funds and data. In response, India's MeitY issued IT Rules 2021 for deepfake removal. CERT-In recommends multi-factor authentication and public awareness. The 2025 IT Rules amendment requires mandatory labelling of synthetic media. Globally, frameworks like C2PA and blockchain-based verification are being developed.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Detection methods have evolved into three categories. Conventional methods look for visual artefacts like face boundaries, lighting, and shadow mismatches. Deep learning uses CNNs and Transformers to spot patterns indicating deepfakes. Multimodal detection compares audio and video together to check for mismatches. The most effective approach combines multiple modalities.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bibliometric analysis examined 2,214 papers from Scopus between 2018 and January 2026. Publication growth shows the field's explosive expansion - from negligible papers in 2018-2019, to 75 in 2020, to 700 in 2025. That's 9x growth in just 5 years. This growth is driven by open-source tools, GAN advances, and growing public concern. Top venues include LNCS, LNNS, IEEE ICASSP, and INTERSPEECH. The most cited papers are MesoNet and Celeb-DF, which introduced benchmark datasets and foundational detection methods. Leading authors like Wang, X. have published 41 papers, showing concentrated expertise in the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forward, there are two sides to the story. On the limitation side, current datasets can be demographically imbalanced, which can affect fairness in detection models, and diffusion-based synthesis is advancing faster than many existing detection methods. On the research side, the field should focus on better detection for diffusion-generated synthetic media, multimodal deepfake detection across audio, video, and image, and stronger cross-sector collaboration between academia, industry, and government.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deepfakes have evolved from a niche tool in 2017 to a global security threat. We've covered three main generation methods - GANs, autoencoders, and diffusion models. Detection has shifted from forensic methods to deep learning to multimodal approaches. Research has increased 9x in just 5 years. No single detection method is sufficient. The future lies in multimodal and provenance-based approaches. As generative AI democratizes deepfake creation, detection must evolve faster - requiring collaboration across technology, policy, and society.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7.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13899" y="1049298"/>
            <a:ext cx="12613124" cy="637342"/>
          </a:xfrm>
          <a:prstGeom prst="rect">
            <a:avLst/>
          </a:prstGeom>
          <a:noFill/>
          <a:ln/>
        </p:spPr>
        <p:txBody>
          <a:bodyPr wrap="none" lIns="0" tIns="0" rIns="0" bIns="0" rtlCol="0" anchor="t"/>
          <a:lstStyle/>
          <a:p>
            <a:pPr algn="l" indent="0" marL="0">
              <a:lnSpc>
                <a:spcPts val="5000"/>
              </a:lnSpc>
              <a:buNone/>
            </a:pPr>
            <a:r>
              <a:rPr lang="en-US" sz="4000" b="1" dirty="0">
                <a:solidFill>
                  <a:srgbClr val="2C3249"/>
                </a:solidFill>
                <a:latin typeface="Kanit Light" pitchFamily="34" charset="0"/>
                <a:ea typeface="Kanit Light" pitchFamily="34" charset="-122"/>
                <a:cs typeface="Kanit Light" pitchFamily="34" charset="-120"/>
              </a:rPr>
              <a:t>Deepfakes: A Review of Creation and Research Trends</a:t>
            </a:r>
            <a:endParaRPr lang="en-US" sz="4000" dirty="0"/>
          </a:p>
        </p:txBody>
      </p:sp>
      <p:sp>
        <p:nvSpPr>
          <p:cNvPr id="3" name="Text 1"/>
          <p:cNvSpPr/>
          <p:nvPr/>
        </p:nvSpPr>
        <p:spPr>
          <a:xfrm>
            <a:off x="713899" y="2053471"/>
            <a:ext cx="13202603" cy="309801"/>
          </a:xfrm>
          <a:prstGeom prst="rect">
            <a:avLst/>
          </a:prstGeom>
          <a:noFill/>
          <a:ln/>
        </p:spPr>
        <p:txBody>
          <a:bodyPr wrap="none" lIns="0" tIns="0" rIns="0" bIns="0" rtlCol="0" anchor="t"/>
          <a:lstStyle/>
          <a:p>
            <a:pPr algn="l" indent="0" marL="0">
              <a:lnSpc>
                <a:spcPts val="2400"/>
              </a:lnSpc>
              <a:buNone/>
            </a:pPr>
            <a:r>
              <a:rPr lang="en-US" sz="1600" b="1" dirty="0">
                <a:solidFill>
                  <a:srgbClr val="2C3249"/>
                </a:solidFill>
                <a:latin typeface="Martel Sans" pitchFamily="34" charset="0"/>
                <a:ea typeface="Martel Sans" pitchFamily="34" charset="-122"/>
                <a:cs typeface="Martel Sans" pitchFamily="34" charset="-120"/>
              </a:rPr>
              <a:t>Authors:</a:t>
            </a:r>
            <a:pPr algn="l" indent="0" marL="0">
              <a:lnSpc>
                <a:spcPts val="2400"/>
              </a:lnSpc>
              <a:buNone/>
            </a:pPr>
            <a:r>
              <a:rPr lang="en-US" sz="1600" dirty="0">
                <a:solidFill>
                  <a:srgbClr val="2C3249"/>
                </a:solidFill>
                <a:latin typeface="Martel Sans" pitchFamily="34" charset="0"/>
                <a:ea typeface="Martel Sans" pitchFamily="34" charset="-122"/>
                <a:cs typeface="Martel Sans" pitchFamily="34" charset="-120"/>
              </a:rPr>
              <a:t> Thota Neha, Napa. Sai Gopi, R. Aarthi (Corresponding Author)</a:t>
            </a:r>
            <a:endParaRPr lang="en-US" sz="1600" dirty="0"/>
          </a:p>
        </p:txBody>
      </p:sp>
      <p:sp>
        <p:nvSpPr>
          <p:cNvPr id="4" name="Text 2"/>
          <p:cNvSpPr/>
          <p:nvPr/>
        </p:nvSpPr>
        <p:spPr>
          <a:xfrm>
            <a:off x="713899" y="2569607"/>
            <a:ext cx="13202603" cy="309801"/>
          </a:xfrm>
          <a:prstGeom prst="rect">
            <a:avLst/>
          </a:prstGeom>
          <a:noFill/>
          <a:ln/>
        </p:spPr>
        <p:txBody>
          <a:bodyPr wrap="none" lIns="0" tIns="0" rIns="0" bIns="0" rtlCol="0" anchor="t"/>
          <a:lstStyle/>
          <a:p>
            <a:pPr algn="l" indent="0" marL="0">
              <a:lnSpc>
                <a:spcPts val="2400"/>
              </a:lnSpc>
              <a:buNone/>
            </a:pPr>
            <a:r>
              <a:rPr lang="en-US" sz="1600" b="1" dirty="0">
                <a:solidFill>
                  <a:srgbClr val="2C3249"/>
                </a:solidFill>
                <a:latin typeface="Martel Sans" pitchFamily="34" charset="0"/>
                <a:ea typeface="Martel Sans" pitchFamily="34" charset="-122"/>
                <a:cs typeface="Martel Sans" pitchFamily="34" charset="-120"/>
              </a:rPr>
              <a:t>Presented by:</a:t>
            </a:r>
            <a:pPr algn="l" indent="0" marL="0">
              <a:lnSpc>
                <a:spcPts val="2400"/>
              </a:lnSpc>
              <a:buNone/>
            </a:pPr>
            <a:r>
              <a:rPr lang="en-US" sz="1600" dirty="0">
                <a:solidFill>
                  <a:srgbClr val="2C3249"/>
                </a:solidFill>
                <a:latin typeface="Martel Sans" pitchFamily="34" charset="0"/>
                <a:ea typeface="Martel Sans" pitchFamily="34" charset="-122"/>
                <a:cs typeface="Martel Sans" pitchFamily="34" charset="-120"/>
              </a:rPr>
              <a:t> Thota Neha</a:t>
            </a:r>
            <a:endParaRPr lang="en-US" sz="1600" dirty="0"/>
          </a:p>
        </p:txBody>
      </p:sp>
      <p:sp>
        <p:nvSpPr>
          <p:cNvPr id="5" name="Text 3"/>
          <p:cNvSpPr/>
          <p:nvPr/>
        </p:nvSpPr>
        <p:spPr>
          <a:xfrm>
            <a:off x="713899" y="3085743"/>
            <a:ext cx="13202603" cy="619601"/>
          </a:xfrm>
          <a:prstGeom prst="rect">
            <a:avLst/>
          </a:prstGeom>
          <a:noFill/>
          <a:ln/>
        </p:spPr>
        <p:txBody>
          <a:bodyPr wrap="square" lIns="0" tIns="0" rIns="0" bIns="0" rtlCol="0" anchor="t"/>
          <a:lstStyle/>
          <a:p>
            <a:pPr algn="l" indent="0" marL="0">
              <a:lnSpc>
                <a:spcPts val="2400"/>
              </a:lnSpc>
              <a:buNone/>
            </a:pPr>
            <a:r>
              <a:rPr lang="en-US" sz="1600" b="1" dirty="0">
                <a:solidFill>
                  <a:srgbClr val="2C3249"/>
                </a:solidFill>
                <a:latin typeface="Martel Sans" pitchFamily="34" charset="0"/>
                <a:ea typeface="Martel Sans" pitchFamily="34" charset="-122"/>
                <a:cs typeface="Martel Sans" pitchFamily="34" charset="-120"/>
              </a:rPr>
              <a:t>Affiliation:</a:t>
            </a:r>
            <a:pPr algn="l" indent="0" marL="0">
              <a:lnSpc>
                <a:spcPts val="2400"/>
              </a:lnSpc>
              <a:buNone/>
            </a:pPr>
            <a:r>
              <a:rPr lang="en-US" sz="1600" dirty="0">
                <a:solidFill>
                  <a:srgbClr val="2C3249"/>
                </a:solidFill>
                <a:latin typeface="Martel Sans" pitchFamily="34" charset="0"/>
                <a:ea typeface="Martel Sans" pitchFamily="34" charset="-122"/>
                <a:cs typeface="Martel Sans" pitchFamily="34" charset="-120"/>
              </a:rPr>
              <a:t> Department of Computer Science and Engineering, Amrita School of Computing, Amrita Vishwa Vidyapeetham, Coimbatore, India.</a:t>
            </a:r>
            <a:endParaRPr lang="en-US" sz="1600" dirty="0"/>
          </a:p>
        </p:txBody>
      </p:sp>
      <p:sp>
        <p:nvSpPr>
          <p:cNvPr id="6" name="Text 4"/>
          <p:cNvSpPr/>
          <p:nvPr/>
        </p:nvSpPr>
        <p:spPr>
          <a:xfrm>
            <a:off x="713899" y="3911679"/>
            <a:ext cx="13202603" cy="309801"/>
          </a:xfrm>
          <a:prstGeom prst="rect">
            <a:avLst/>
          </a:prstGeom>
          <a:noFill/>
          <a:ln/>
        </p:spPr>
        <p:txBody>
          <a:bodyPr wrap="none" lIns="0" tIns="0" rIns="0" bIns="0" rtlCol="0" anchor="t"/>
          <a:lstStyle/>
          <a:p>
            <a:pPr algn="l" indent="0" marL="0">
              <a:lnSpc>
                <a:spcPts val="2400"/>
              </a:lnSpc>
              <a:buNone/>
            </a:pPr>
            <a:r>
              <a:rPr lang="en-US" sz="1600" b="1" dirty="0">
                <a:solidFill>
                  <a:srgbClr val="2C3249"/>
                </a:solidFill>
                <a:latin typeface="Martel Sans" pitchFamily="34" charset="0"/>
                <a:ea typeface="Martel Sans" pitchFamily="34" charset="-122"/>
                <a:cs typeface="Martel Sans" pitchFamily="34" charset="-120"/>
              </a:rPr>
              <a:t>Conference:</a:t>
            </a:r>
            <a:pPr algn="l" indent="0" marL="0">
              <a:lnSpc>
                <a:spcPts val="2400"/>
              </a:lnSpc>
              <a:buNone/>
            </a:pPr>
            <a:r>
              <a:rPr lang="en-US" sz="1600" dirty="0">
                <a:solidFill>
                  <a:srgbClr val="2C3249"/>
                </a:solidFill>
                <a:latin typeface="Martel Sans" pitchFamily="34" charset="0"/>
                <a:ea typeface="Martel Sans" pitchFamily="34" charset="-122"/>
                <a:cs typeface="Martel Sans" pitchFamily="34" charset="-120"/>
              </a:rPr>
              <a:t> ICTIS-2026, Thailand.</a:t>
            </a:r>
            <a:endParaRPr lang="en-US" sz="1600" dirty="0"/>
          </a:p>
        </p:txBody>
      </p:sp>
      <p:sp>
        <p:nvSpPr>
          <p:cNvPr id="7" name="Text 5"/>
          <p:cNvSpPr/>
          <p:nvPr/>
        </p:nvSpPr>
        <p:spPr>
          <a:xfrm>
            <a:off x="713899" y="4427815"/>
            <a:ext cx="13202603" cy="309801"/>
          </a:xfrm>
          <a:prstGeom prst="rect">
            <a:avLst/>
          </a:prstGeom>
          <a:noFill/>
          <a:ln/>
        </p:spPr>
        <p:txBody>
          <a:bodyPr wrap="none" lIns="0" tIns="0" rIns="0" bIns="0" rtlCol="0" anchor="t"/>
          <a:lstStyle/>
          <a:p>
            <a:pPr algn="l" indent="0" marL="0">
              <a:lnSpc>
                <a:spcPts val="2400"/>
              </a:lnSpc>
              <a:buNone/>
            </a:pPr>
            <a:r>
              <a:rPr lang="en-US" sz="1600" b="1" dirty="0">
                <a:solidFill>
                  <a:srgbClr val="2C3249"/>
                </a:solidFill>
                <a:latin typeface="Martel Sans" pitchFamily="34" charset="0"/>
                <a:ea typeface="Martel Sans" pitchFamily="34" charset="-122"/>
                <a:cs typeface="Martel Sans" pitchFamily="34" charset="-120"/>
              </a:rPr>
              <a:t>Paper ID:</a:t>
            </a:r>
            <a:pPr algn="l" indent="0" marL="0">
              <a:lnSpc>
                <a:spcPts val="2400"/>
              </a:lnSpc>
              <a:buNone/>
            </a:pPr>
            <a:r>
              <a:rPr lang="en-US" sz="1600" dirty="0">
                <a:solidFill>
                  <a:srgbClr val="2C3249"/>
                </a:solidFill>
                <a:latin typeface="Martel Sans" pitchFamily="34" charset="0"/>
                <a:ea typeface="Martel Sans" pitchFamily="34" charset="-122"/>
                <a:cs typeface="Martel Sans" pitchFamily="34" charset="-120"/>
              </a:rPr>
              <a:t> 1552</a:t>
            </a:r>
            <a:endParaRPr lang="en-US" sz="1600" dirty="0"/>
          </a:p>
        </p:txBody>
      </p:sp>
      <p:pic>
        <p:nvPicPr>
          <p:cNvPr id="8" name="Image 0" descr="preencoded.png">    </p:cNvPr>
          <p:cNvPicPr>
            <a:picLocks noChangeAspect="1"/>
          </p:cNvPicPr>
          <p:nvPr/>
        </p:nvPicPr>
        <p:blipFill>
          <a:blip r:embed="rId1"/>
          <a:stretch>
            <a:fillRect/>
          </a:stretch>
        </p:blipFill>
        <p:spPr>
          <a:xfrm>
            <a:off x="713899" y="5150287"/>
            <a:ext cx="2656642" cy="1307425"/>
          </a:xfrm>
          <a:prstGeom prst="rect">
            <a:avLst/>
          </a:prstGeom>
        </p:spPr>
      </p:pic>
      <p:pic>
        <p:nvPicPr>
          <p:cNvPr id="9" name="Image 1" descr="preencoded.png">    </p:cNvPr>
          <p:cNvPicPr>
            <a:picLocks noChangeAspect="1"/>
          </p:cNvPicPr>
          <p:nvPr/>
        </p:nvPicPr>
        <p:blipFill>
          <a:blip r:embed="rId2"/>
          <a:stretch>
            <a:fillRect/>
          </a:stretch>
        </p:blipFill>
        <p:spPr>
          <a:xfrm>
            <a:off x="10436423" y="5150287"/>
            <a:ext cx="3487698" cy="910233"/>
          </a:xfrm>
          <a:prstGeom prst="rect">
            <a:avLst/>
          </a:prstGeom>
        </p:spPr>
      </p:pic>
      <p:sp>
        <p:nvSpPr>
          <p:cNvPr id="10" name="Text 6"/>
          <p:cNvSpPr/>
          <p:nvPr/>
        </p:nvSpPr>
        <p:spPr>
          <a:xfrm>
            <a:off x="713899" y="6870382"/>
            <a:ext cx="13202603" cy="309801"/>
          </a:xfrm>
          <a:prstGeom prst="rect">
            <a:avLst/>
          </a:prstGeom>
          <a:noFill/>
          <a:ln/>
        </p:spPr>
        <p:txBody>
          <a:bodyPr wrap="none" lIns="0" tIns="0" rIns="0" bIns="0" rtlCol="0" anchor="t"/>
          <a:lstStyle/>
          <a:p>
            <a:pPr algn="l" indent="0" marL="0">
              <a:lnSpc>
                <a:spcPts val="2400"/>
              </a:lnSpc>
              <a:buNone/>
            </a:pP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724376"/>
            <a:ext cx="6368891" cy="708779"/>
          </a:xfrm>
          <a:prstGeom prst="rect">
            <a:avLst/>
          </a:prstGeom>
          <a:noFill/>
          <a:ln/>
        </p:spPr>
        <p:txBody>
          <a:bodyPr wrap="none" lIns="0" tIns="0" rIns="0" bIns="0" rtlCol="0" anchor="t"/>
          <a:lstStyle/>
          <a:p>
            <a:pPr algn="l" indent="0" marL="0">
              <a:lnSpc>
                <a:spcPts val="5550"/>
              </a:lnSpc>
              <a:buNone/>
            </a:pPr>
            <a:r>
              <a:rPr lang="en-US" sz="4450" dirty="0">
                <a:solidFill>
                  <a:srgbClr val="272D45"/>
                </a:solidFill>
                <a:latin typeface="Kanit Light" pitchFamily="34" charset="0"/>
                <a:ea typeface="Kanit Light" pitchFamily="34" charset="-122"/>
                <a:cs typeface="Kanit Light" pitchFamily="34" charset="-120"/>
              </a:rPr>
              <a:t>Introduction &amp; Motivation</a:t>
            </a:r>
            <a:endParaRPr lang="en-US" sz="4450" dirty="0"/>
          </a:p>
        </p:txBody>
      </p:sp>
      <p:sp>
        <p:nvSpPr>
          <p:cNvPr id="3" name="Text 1"/>
          <p:cNvSpPr/>
          <p:nvPr/>
        </p:nvSpPr>
        <p:spPr>
          <a:xfrm>
            <a:off x="793790" y="1977390"/>
            <a:ext cx="6244709" cy="362903"/>
          </a:xfrm>
          <a:prstGeom prst="rect">
            <a:avLst/>
          </a:prstGeom>
          <a:noFill/>
          <a:ln/>
        </p:spPr>
        <p:txBody>
          <a:bodyPr wrap="none" lIns="0" tIns="0" rIns="0" bIns="0" rtlCol="0" anchor="t"/>
          <a:lstStyle/>
          <a:p>
            <a:pPr algn="l" indent="0" marL="0">
              <a:lnSpc>
                <a:spcPts val="2850"/>
              </a:lnSpc>
              <a:buNone/>
            </a:pPr>
            <a:r>
              <a:rPr lang="en-US" sz="1750" b="1" dirty="0">
                <a:solidFill>
                  <a:srgbClr val="2C3249"/>
                </a:solidFill>
                <a:latin typeface="Martel Sans" pitchFamily="34" charset="0"/>
                <a:ea typeface="Martel Sans" pitchFamily="34" charset="-122"/>
                <a:cs typeface="Martel Sans" pitchFamily="34" charset="-120"/>
              </a:rPr>
              <a:t>What are Deepfakes?</a:t>
            </a:r>
            <a:endParaRPr lang="en-US" sz="1750" dirty="0"/>
          </a:p>
        </p:txBody>
      </p:sp>
      <p:sp>
        <p:nvSpPr>
          <p:cNvPr id="4" name="Text 2"/>
          <p:cNvSpPr/>
          <p:nvPr/>
        </p:nvSpPr>
        <p:spPr>
          <a:xfrm>
            <a:off x="793790" y="2544366"/>
            <a:ext cx="6244709" cy="1610201"/>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AI-generated synthetic media — images, videos, audio</a:t>
            </a:r>
            <a:endParaRPr lang="en-US" sz="1750" dirty="0"/>
          </a:p>
          <a:p>
            <a:pPr algn="l" marL="342900" indent="-342900">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Term coined in 2017 on Reddit: "Deep Learning" + "Fake"</a:t>
            </a:r>
            <a:endParaRPr lang="en-US" sz="1750" dirty="0"/>
          </a:p>
          <a:p>
            <a:pPr algn="l" marL="342900" indent="-342900">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Powered by advanced deep learning architectures</a:t>
            </a:r>
            <a:endParaRPr lang="en-US" sz="1750" dirty="0"/>
          </a:p>
        </p:txBody>
      </p:sp>
      <p:sp>
        <p:nvSpPr>
          <p:cNvPr id="5" name="Text 3"/>
          <p:cNvSpPr/>
          <p:nvPr/>
        </p:nvSpPr>
        <p:spPr>
          <a:xfrm>
            <a:off x="7599521" y="1977390"/>
            <a:ext cx="6244709" cy="362903"/>
          </a:xfrm>
          <a:prstGeom prst="rect">
            <a:avLst/>
          </a:prstGeom>
          <a:noFill/>
          <a:ln/>
        </p:spPr>
        <p:txBody>
          <a:bodyPr wrap="none" lIns="0" tIns="0" rIns="0" bIns="0" rtlCol="0" anchor="t"/>
          <a:lstStyle/>
          <a:p>
            <a:pPr algn="l" indent="0" marL="0">
              <a:lnSpc>
                <a:spcPts val="2850"/>
              </a:lnSpc>
              <a:buNone/>
            </a:pPr>
            <a:r>
              <a:rPr lang="en-US" sz="1750" b="1" dirty="0">
                <a:solidFill>
                  <a:srgbClr val="2C3249"/>
                </a:solidFill>
                <a:latin typeface="Martel Sans" pitchFamily="34" charset="0"/>
                <a:ea typeface="Martel Sans" pitchFamily="34" charset="-122"/>
                <a:cs typeface="Martel Sans" pitchFamily="34" charset="-120"/>
              </a:rPr>
              <a:t>Why Does It Matter?</a:t>
            </a:r>
            <a:endParaRPr lang="en-US" sz="1750" dirty="0"/>
          </a:p>
        </p:txBody>
      </p:sp>
      <p:sp>
        <p:nvSpPr>
          <p:cNvPr id="6" name="Text 4"/>
          <p:cNvSpPr/>
          <p:nvPr/>
        </p:nvSpPr>
        <p:spPr>
          <a:xfrm>
            <a:off x="7599521" y="2544366"/>
            <a:ext cx="6244709" cy="2778204"/>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Deepfake content online has grown 550%+ since 2019.</a:t>
            </a:r>
            <a:endParaRPr lang="en-US" sz="1750" dirty="0"/>
          </a:p>
          <a:p>
            <a:pPr algn="l" marL="342900" indent="-342900">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~98% of online deepfakes involve non-consensual explicit content.</a:t>
            </a:r>
            <a:endParaRPr lang="en-US" sz="1750" dirty="0"/>
          </a:p>
          <a:p>
            <a:pPr algn="l" marL="342900" indent="-342900">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Cybersecurity attacks using deepfakes rose 1,300% annually.</a:t>
            </a:r>
            <a:endParaRPr lang="en-US" sz="1750" dirty="0"/>
          </a:p>
          <a:p>
            <a:pPr algn="l" marL="342900" indent="-342900">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Deepfake market: ~$805M (2023) → projected $6.22B by 2033.</a:t>
            </a:r>
            <a:endParaRPr lang="en-US" sz="1750" dirty="0"/>
          </a:p>
        </p:txBody>
      </p:sp>
      <p:sp>
        <p:nvSpPr>
          <p:cNvPr id="7" name="Shape 5"/>
          <p:cNvSpPr/>
          <p:nvPr/>
        </p:nvSpPr>
        <p:spPr>
          <a:xfrm>
            <a:off x="793790" y="5657017"/>
            <a:ext cx="13042821" cy="1848207"/>
          </a:xfrm>
          <a:prstGeom prst="roundRect">
            <a:avLst>
              <a:gd name="adj" fmla="val 5155"/>
            </a:avLst>
          </a:prstGeom>
          <a:solidFill>
            <a:srgbClr val="CFE2DE"/>
          </a:solidFill>
          <a:ln/>
        </p:spPr>
      </p:sp>
      <p:pic>
        <p:nvPicPr>
          <p:cNvPr id="8" name="Image 0" descr="preencoded.png">    </p:cNvPr>
          <p:cNvPicPr>
            <a:picLocks noChangeAspect="1"/>
          </p:cNvPicPr>
          <p:nvPr/>
        </p:nvPicPr>
        <p:blipFill>
          <a:blip r:embed="rId1"/>
          <a:stretch>
            <a:fillRect/>
          </a:stretch>
        </p:blipFill>
        <p:spPr>
          <a:xfrm>
            <a:off x="1020604" y="5970627"/>
            <a:ext cx="283488" cy="226814"/>
          </a:xfrm>
          <a:prstGeom prst="rect">
            <a:avLst/>
          </a:prstGeom>
        </p:spPr>
      </p:pic>
      <p:sp>
        <p:nvSpPr>
          <p:cNvPr id="9" name="Text 6"/>
          <p:cNvSpPr/>
          <p:nvPr/>
        </p:nvSpPr>
        <p:spPr>
          <a:xfrm>
            <a:off x="1530906" y="5940504"/>
            <a:ext cx="12078891" cy="362903"/>
          </a:xfrm>
          <a:prstGeom prst="rect">
            <a:avLst/>
          </a:prstGeom>
          <a:noFill/>
          <a:ln/>
        </p:spPr>
        <p:txBody>
          <a:bodyPr wrap="none" lIns="0" tIns="0" rIns="0" bIns="0" rtlCol="0" anchor="t"/>
          <a:lstStyle/>
          <a:p>
            <a:pPr algn="l" indent="0" marL="0">
              <a:lnSpc>
                <a:spcPts val="2850"/>
              </a:lnSpc>
              <a:buNone/>
            </a:pPr>
            <a:r>
              <a:rPr lang="en-US" sz="1750" b="1" dirty="0">
                <a:solidFill>
                  <a:srgbClr val="000000"/>
                </a:solidFill>
                <a:latin typeface="Martel Sans" pitchFamily="34" charset="0"/>
                <a:ea typeface="Martel Sans" pitchFamily="34" charset="-122"/>
                <a:cs typeface="Martel Sans" pitchFamily="34" charset="-120"/>
              </a:rPr>
              <a:t>Research Gap:</a:t>
            </a:r>
            <a:endParaRPr lang="en-US" sz="1750" dirty="0"/>
          </a:p>
        </p:txBody>
      </p:sp>
      <p:sp>
        <p:nvSpPr>
          <p:cNvPr id="10" name="Text 7"/>
          <p:cNvSpPr/>
          <p:nvPr/>
        </p:nvSpPr>
        <p:spPr>
          <a:xfrm>
            <a:off x="1530906" y="6507480"/>
            <a:ext cx="12078891" cy="805101"/>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000000"/>
                </a:solidFill>
                <a:latin typeface="Martel Sans" pitchFamily="34" charset="0"/>
                <a:ea typeface="Martel Sans" pitchFamily="34" charset="-122"/>
                <a:cs typeface="Martel Sans" pitchFamily="34" charset="-120"/>
              </a:rPr>
              <a:t>Detection methods struggle to keep up with generation advances.</a:t>
            </a:r>
            <a:endParaRPr lang="en-US" sz="1750" dirty="0"/>
          </a:p>
          <a:p>
            <a:pPr algn="l" marL="342900" indent="-342900">
              <a:lnSpc>
                <a:spcPts val="2850"/>
              </a:lnSpc>
              <a:buSzPct val="100000"/>
              <a:buChar char="•"/>
            </a:pPr>
            <a:r>
              <a:rPr lang="en-US" sz="1750" dirty="0">
                <a:solidFill>
                  <a:srgbClr val="000000"/>
                </a:solidFill>
                <a:latin typeface="Martel Sans" pitchFamily="34" charset="0"/>
                <a:ea typeface="Martel Sans" pitchFamily="34" charset="-122"/>
                <a:cs typeface="Martel Sans" pitchFamily="34" charset="-120"/>
              </a:rPr>
              <a:t>This paper: a comprehensive survey of creation, detection &amp; trends.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757601"/>
            <a:ext cx="8967311" cy="708779"/>
          </a:xfrm>
          <a:prstGeom prst="rect">
            <a:avLst/>
          </a:prstGeom>
          <a:noFill/>
          <a:ln/>
        </p:spPr>
        <p:txBody>
          <a:bodyPr wrap="none" lIns="0" tIns="0" rIns="0" bIns="0" rtlCol="0" anchor="t"/>
          <a:lstStyle/>
          <a:p>
            <a:pPr algn="l" indent="0" marL="0">
              <a:lnSpc>
                <a:spcPts val="5550"/>
              </a:lnSpc>
              <a:buNone/>
            </a:pPr>
            <a:r>
              <a:rPr lang="en-US" sz="4450" dirty="0">
                <a:solidFill>
                  <a:srgbClr val="272D45"/>
                </a:solidFill>
                <a:latin typeface="Kanit Light" pitchFamily="34" charset="0"/>
                <a:ea typeface="Kanit Light" pitchFamily="34" charset="-122"/>
                <a:cs typeface="Kanit Light" pitchFamily="34" charset="-120"/>
              </a:rPr>
              <a:t>Deepfake Types &amp; Creation Methods</a:t>
            </a:r>
            <a:endParaRPr lang="en-US" sz="4450" dirty="0"/>
          </a:p>
        </p:txBody>
      </p:sp>
      <p:sp>
        <p:nvSpPr>
          <p:cNvPr id="3" name="Text 1"/>
          <p:cNvSpPr/>
          <p:nvPr/>
        </p:nvSpPr>
        <p:spPr>
          <a:xfrm>
            <a:off x="793790" y="3033355"/>
            <a:ext cx="4002286" cy="354330"/>
          </a:xfrm>
          <a:prstGeom prst="rect">
            <a:avLst/>
          </a:prstGeom>
          <a:noFill/>
          <a:ln/>
        </p:spPr>
        <p:txBody>
          <a:bodyPr wrap="none" lIns="0" tIns="0" rIns="0" bIns="0" rtlCol="0" anchor="t"/>
          <a:lstStyle/>
          <a:p>
            <a:pPr algn="l" indent="0" marL="0">
              <a:lnSpc>
                <a:spcPts val="2750"/>
              </a:lnSpc>
              <a:buNone/>
            </a:pPr>
            <a:r>
              <a:rPr lang="en-US" sz="2200" dirty="0">
                <a:solidFill>
                  <a:srgbClr val="272D45"/>
                </a:solidFill>
                <a:latin typeface="Kanit Light" pitchFamily="34" charset="0"/>
                <a:ea typeface="Kanit Light" pitchFamily="34" charset="-122"/>
                <a:cs typeface="Kanit Light" pitchFamily="34" charset="-120"/>
              </a:rPr>
              <a:t>Types of Deepfake Manipulation</a:t>
            </a:r>
            <a:endParaRPr lang="en-US" sz="2200" dirty="0"/>
          </a:p>
        </p:txBody>
      </p:sp>
      <p:sp>
        <p:nvSpPr>
          <p:cNvPr id="4" name="Text 2"/>
          <p:cNvSpPr/>
          <p:nvPr/>
        </p:nvSpPr>
        <p:spPr>
          <a:xfrm>
            <a:off x="793790" y="3614499"/>
            <a:ext cx="6244709" cy="2778204"/>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Face Swapping — replacing one person's face with another's</a:t>
            </a:r>
            <a:endParaRPr lang="en-US" sz="1750" dirty="0"/>
          </a:p>
          <a:p>
            <a:pPr algn="l" marL="342900" indent="-342900">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Voice Cloning — synthetic speech mimicking real voices</a:t>
            </a:r>
            <a:endParaRPr lang="en-US" sz="1750" dirty="0"/>
          </a:p>
          <a:p>
            <a:pPr algn="l" marL="342900" indent="-342900">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Lip Synchronisation — matching mouth movements to audio</a:t>
            </a:r>
            <a:endParaRPr lang="en-US" sz="1750" dirty="0"/>
          </a:p>
          <a:p>
            <a:pPr algn="l" marL="342900" indent="-342900">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Full Facial Synthesis — entirely AI-generated faces</a:t>
            </a:r>
            <a:endParaRPr lang="en-US" sz="1750" dirty="0"/>
          </a:p>
        </p:txBody>
      </p:sp>
      <p:sp>
        <p:nvSpPr>
          <p:cNvPr id="5" name="Text 3"/>
          <p:cNvSpPr/>
          <p:nvPr/>
        </p:nvSpPr>
        <p:spPr>
          <a:xfrm>
            <a:off x="7599521" y="3033355"/>
            <a:ext cx="4531162" cy="354330"/>
          </a:xfrm>
          <a:prstGeom prst="rect">
            <a:avLst/>
          </a:prstGeom>
          <a:noFill/>
          <a:ln/>
        </p:spPr>
        <p:txBody>
          <a:bodyPr wrap="none" lIns="0" tIns="0" rIns="0" bIns="0" rtlCol="0" anchor="t"/>
          <a:lstStyle/>
          <a:p>
            <a:pPr algn="l" indent="0" marL="0">
              <a:lnSpc>
                <a:spcPts val="2750"/>
              </a:lnSpc>
              <a:buNone/>
            </a:pPr>
            <a:r>
              <a:rPr lang="en-US" sz="2200" dirty="0">
                <a:solidFill>
                  <a:srgbClr val="272D45"/>
                </a:solidFill>
                <a:latin typeface="Kanit Light" pitchFamily="34" charset="0"/>
                <a:ea typeface="Kanit Light" pitchFamily="34" charset="-122"/>
                <a:cs typeface="Kanit Light" pitchFamily="34" charset="-120"/>
              </a:rPr>
              <a:t>Three Core Generation Architectures</a:t>
            </a:r>
            <a:endParaRPr lang="en-US" sz="2200" dirty="0"/>
          </a:p>
        </p:txBody>
      </p:sp>
      <p:sp>
        <p:nvSpPr>
          <p:cNvPr id="6" name="Text 4"/>
          <p:cNvSpPr/>
          <p:nvPr/>
        </p:nvSpPr>
        <p:spPr>
          <a:xfrm>
            <a:off x="7599521" y="3614499"/>
            <a:ext cx="6244709" cy="2698909"/>
          </a:xfrm>
          <a:prstGeom prst="rect">
            <a:avLst/>
          </a:prstGeom>
          <a:noFill/>
          <a:ln/>
        </p:spPr>
        <p:txBody>
          <a:bodyPr wrap="square" lIns="0" tIns="0" rIns="0" bIns="0" rtlCol="0" anchor="t"/>
          <a:lstStyle/>
          <a:p>
            <a:pPr algn="l" marL="342900" indent="-342900">
              <a:lnSpc>
                <a:spcPts val="2850"/>
              </a:lnSpc>
              <a:buSzPct val="100000"/>
              <a:buFont typeface="+mj-lt"/>
              <a:buAutoNum type="arabicPeriod" startAt="1"/>
            </a:pPr>
            <a:r>
              <a:rPr lang="en-US" sz="1750" dirty="0">
                <a:solidFill>
                  <a:srgbClr val="2C3249"/>
                </a:solidFill>
                <a:latin typeface="Martel Sans" pitchFamily="34" charset="0"/>
                <a:ea typeface="Martel Sans" pitchFamily="34" charset="-122"/>
                <a:cs typeface="Martel Sans" pitchFamily="34" charset="-120"/>
              </a:rPr>
              <a:t>GANs (Generative Adversarial Networks) → Generator vs Discriminator — iteratively improves realism</a:t>
            </a:r>
            <a:endParaRPr lang="en-US" sz="1750" dirty="0"/>
          </a:p>
          <a:p>
            <a:pPr algn="l" marL="342900" indent="-342900">
              <a:lnSpc>
                <a:spcPts val="2850"/>
              </a:lnSpc>
              <a:buSzPct val="100000"/>
              <a:buFont typeface="+mj-lt"/>
              <a:buAutoNum type="arabicPeriod" startAt="2"/>
            </a:pPr>
            <a:r>
              <a:rPr lang="en-US" sz="1750" dirty="0">
                <a:solidFill>
                  <a:srgbClr val="2C3249"/>
                </a:solidFill>
                <a:latin typeface="Martel Sans" pitchFamily="34" charset="0"/>
                <a:ea typeface="Martel Sans" pitchFamily="34" charset="-122"/>
                <a:cs typeface="Martel Sans" pitchFamily="34" charset="-120"/>
              </a:rPr>
              <a:t>Autoencoders → Learn compact facial features → reconstruct/swap identities</a:t>
            </a:r>
            <a:endParaRPr lang="en-US" sz="1750" dirty="0"/>
          </a:p>
          <a:p>
            <a:pPr algn="l" marL="342900" indent="-342900">
              <a:lnSpc>
                <a:spcPts val="2850"/>
              </a:lnSpc>
              <a:buSzPct val="100000"/>
              <a:buFont typeface="+mj-lt"/>
              <a:buAutoNum type="arabicPeriod" startAt="3"/>
            </a:pPr>
            <a:r>
              <a:rPr lang="en-US" sz="1750" dirty="0">
                <a:solidFill>
                  <a:srgbClr val="2C3249"/>
                </a:solidFill>
                <a:latin typeface="Martel Sans" pitchFamily="34" charset="0"/>
                <a:ea typeface="Martel Sans" pitchFamily="34" charset="-122"/>
                <a:cs typeface="Martel Sans" pitchFamily="34" charset="-120"/>
              </a:rPr>
              <a:t>Diffusion Models (latest) → Denoising-based generation → higher fidelity, fewer artefacts → Hardest to detect</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099899"/>
            <a:ext cx="7462599" cy="708779"/>
          </a:xfrm>
          <a:prstGeom prst="rect">
            <a:avLst/>
          </a:prstGeom>
          <a:noFill/>
          <a:ln/>
        </p:spPr>
        <p:txBody>
          <a:bodyPr wrap="none" lIns="0" tIns="0" rIns="0" bIns="0" rtlCol="0" anchor="t"/>
          <a:lstStyle/>
          <a:p>
            <a:pPr algn="l" indent="0" marL="0">
              <a:lnSpc>
                <a:spcPts val="5550"/>
              </a:lnSpc>
              <a:buNone/>
            </a:pPr>
            <a:r>
              <a:rPr lang="en-US" sz="4450" dirty="0">
                <a:solidFill>
                  <a:srgbClr val="272D45"/>
                </a:solidFill>
                <a:latin typeface="Kanit Light" pitchFamily="34" charset="0"/>
                <a:ea typeface="Kanit Light" pitchFamily="34" charset="-122"/>
                <a:cs typeface="Kanit Light" pitchFamily="34" charset="-120"/>
              </a:rPr>
              <a:t>Societal Impact &amp; Regulations</a:t>
            </a:r>
            <a:endParaRPr lang="en-US" sz="4450" dirty="0"/>
          </a:p>
        </p:txBody>
      </p:sp>
      <p:sp>
        <p:nvSpPr>
          <p:cNvPr id="3" name="Text 1"/>
          <p:cNvSpPr/>
          <p:nvPr/>
        </p:nvSpPr>
        <p:spPr>
          <a:xfrm>
            <a:off x="793790" y="1899404"/>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272D45"/>
                </a:solidFill>
                <a:latin typeface="Kanit Light" pitchFamily="34" charset="0"/>
                <a:ea typeface="Kanit Light" pitchFamily="34" charset="-122"/>
                <a:cs typeface="Kanit Light" pitchFamily="34" charset="-120"/>
              </a:rPr>
              <a:t>Key Abuse Areas:</a:t>
            </a:r>
            <a:endParaRPr lang="en-US" sz="2200" dirty="0"/>
          </a:p>
        </p:txBody>
      </p:sp>
      <p:sp>
        <p:nvSpPr>
          <p:cNvPr id="4" name="Text 2"/>
          <p:cNvSpPr/>
          <p:nvPr/>
        </p:nvSpPr>
        <p:spPr>
          <a:xfrm>
            <a:off x="793790" y="2593896"/>
            <a:ext cx="13042821" cy="1973104"/>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Privacy violation — non-consensual explicit content; emotional and reputational harm</a:t>
            </a:r>
            <a:endParaRPr lang="en-US" sz="1750" dirty="0"/>
          </a:p>
          <a:p>
            <a:pPr algn="l" marL="342900" indent="-342900">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Political misinformation — fabricated videos of leaders manipulate public opinion and elections; psychological impact can persist after content deletion</a:t>
            </a:r>
            <a:endParaRPr lang="en-US" sz="1750" dirty="0"/>
          </a:p>
          <a:p>
            <a:pPr algn="l" marL="342900" indent="-342900">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Financial fraud and identity theft — deepfake audio and video can impersonate executives or family members; causes fund transfers, data leaks, and global economic risk</a:t>
            </a:r>
            <a:endParaRPr lang="en-US" sz="1750" dirty="0"/>
          </a:p>
        </p:txBody>
      </p:sp>
      <p:sp>
        <p:nvSpPr>
          <p:cNvPr id="5" name="Text 3"/>
          <p:cNvSpPr/>
          <p:nvPr/>
        </p:nvSpPr>
        <p:spPr>
          <a:xfrm>
            <a:off x="793790" y="4822150"/>
            <a:ext cx="13042821" cy="362903"/>
          </a:xfrm>
          <a:prstGeom prst="rect">
            <a:avLst/>
          </a:prstGeom>
          <a:noFill/>
          <a:ln/>
        </p:spPr>
        <p:txBody>
          <a:bodyPr wrap="none" lIns="0" tIns="0" rIns="0" bIns="0" rtlCol="0" anchor="t"/>
          <a:lstStyle/>
          <a:p>
            <a:pPr algn="l" indent="0" marL="0">
              <a:lnSpc>
                <a:spcPts val="2850"/>
              </a:lnSpc>
              <a:buNone/>
            </a:pPr>
            <a:r>
              <a:rPr lang="en-US" sz="1750" b="1" dirty="0">
                <a:solidFill>
                  <a:srgbClr val="2C3249"/>
                </a:solidFill>
                <a:latin typeface="Martel Sans" pitchFamily="34" charset="0"/>
                <a:ea typeface="Martel Sans" pitchFamily="34" charset="-122"/>
                <a:cs typeface="Martel Sans" pitchFamily="34" charset="-120"/>
              </a:rPr>
              <a:t>Regulatory Response:</a:t>
            </a:r>
            <a:endParaRPr lang="en-US" sz="1750" dirty="0"/>
          </a:p>
        </p:txBody>
      </p:sp>
      <p:sp>
        <p:nvSpPr>
          <p:cNvPr id="6" name="Text 4"/>
          <p:cNvSpPr/>
          <p:nvPr/>
        </p:nvSpPr>
        <p:spPr>
          <a:xfrm>
            <a:off x="793790" y="5440204"/>
            <a:ext cx="13042821" cy="1689497"/>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India: MeitY issued IT Rules 2021 directives for deepfake removal</a:t>
            </a:r>
            <a:endParaRPr lang="en-US" sz="1750" dirty="0"/>
          </a:p>
          <a:p>
            <a:pPr algn="l" marL="342900" indent="-342900">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CERT-In: Recommends multi-factor authentication and public awareness</a:t>
            </a:r>
            <a:endParaRPr lang="en-US" sz="1750" dirty="0"/>
          </a:p>
          <a:p>
            <a:pPr algn="l" marL="342900" indent="-342900">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IT Rules 2025 Amendment: Mandatory labelling of synthetic media</a:t>
            </a:r>
            <a:endParaRPr lang="en-US" sz="1750" dirty="0"/>
          </a:p>
          <a:p>
            <a:pPr algn="l" marL="342900" indent="-342900">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Global: C2PA framework and blockchain-based media verification</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976080"/>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272D45"/>
                </a:solidFill>
                <a:latin typeface="Kanit Light" pitchFamily="34" charset="0"/>
                <a:ea typeface="Kanit Light" pitchFamily="34" charset="-122"/>
                <a:cs typeface="Kanit Light" pitchFamily="34" charset="-120"/>
              </a:rPr>
              <a:t>Detection Techniques</a:t>
            </a:r>
            <a:endParaRPr lang="en-US" sz="4450" dirty="0"/>
          </a:p>
        </p:txBody>
      </p:sp>
      <p:sp>
        <p:nvSpPr>
          <p:cNvPr id="3" name="Shape 1"/>
          <p:cNvSpPr/>
          <p:nvPr/>
        </p:nvSpPr>
        <p:spPr>
          <a:xfrm>
            <a:off x="793790" y="3478649"/>
            <a:ext cx="4196358" cy="2774871"/>
          </a:xfrm>
          <a:prstGeom prst="roundRect">
            <a:avLst>
              <a:gd name="adj" fmla="val 5272"/>
            </a:avLst>
          </a:prstGeom>
          <a:solidFill>
            <a:srgbClr val="FFFFFF"/>
          </a:solidFill>
          <a:ln/>
        </p:spPr>
      </p:sp>
      <p:sp>
        <p:nvSpPr>
          <p:cNvPr id="4" name="Shape 2"/>
          <p:cNvSpPr/>
          <p:nvPr/>
        </p:nvSpPr>
        <p:spPr>
          <a:xfrm>
            <a:off x="793790" y="3448169"/>
            <a:ext cx="4196358" cy="121920"/>
          </a:xfrm>
          <a:prstGeom prst="roundRect">
            <a:avLst>
              <a:gd name="adj" fmla="val 78139"/>
            </a:avLst>
          </a:prstGeom>
          <a:solidFill>
            <a:srgbClr val="437066"/>
          </a:solidFill>
          <a:ln/>
        </p:spPr>
      </p:sp>
      <p:sp>
        <p:nvSpPr>
          <p:cNvPr id="5" name="Shape 3"/>
          <p:cNvSpPr/>
          <p:nvPr/>
        </p:nvSpPr>
        <p:spPr>
          <a:xfrm>
            <a:off x="2551688" y="3138488"/>
            <a:ext cx="680442" cy="680442"/>
          </a:xfrm>
          <a:prstGeom prst="roundRect">
            <a:avLst>
              <a:gd name="adj" fmla="val 134383"/>
            </a:avLst>
          </a:prstGeom>
          <a:solidFill>
            <a:srgbClr val="437066"/>
          </a:solidFill>
          <a:ln/>
        </p:spPr>
      </p:sp>
      <p:sp>
        <p:nvSpPr>
          <p:cNvPr id="6" name="Text 4"/>
          <p:cNvSpPr/>
          <p:nvPr/>
        </p:nvSpPr>
        <p:spPr>
          <a:xfrm>
            <a:off x="2755761" y="3308628"/>
            <a:ext cx="272177" cy="340162"/>
          </a:xfrm>
          <a:prstGeom prst="rect">
            <a:avLst/>
          </a:prstGeom>
          <a:noFill/>
          <a:ln/>
        </p:spPr>
        <p:txBody>
          <a:bodyPr wrap="none" lIns="0" tIns="0" rIns="0" bIns="0" rtlCol="0" anchor="t"/>
          <a:lstStyle/>
          <a:p>
            <a:pPr algn="l" indent="0" marL="0">
              <a:lnSpc>
                <a:spcPts val="3400"/>
              </a:lnSpc>
              <a:buNone/>
            </a:pPr>
            <a:r>
              <a:rPr lang="en-US" sz="2100" dirty="0">
                <a:solidFill>
                  <a:srgbClr val="FFFFFF"/>
                </a:solidFill>
                <a:latin typeface="Kanit Light" pitchFamily="34" charset="0"/>
                <a:ea typeface="Kanit Light" pitchFamily="34" charset="-122"/>
                <a:cs typeface="Kanit Light" pitchFamily="34" charset="-120"/>
              </a:rPr>
              <a:t>1</a:t>
            </a:r>
            <a:endParaRPr lang="en-US" sz="2100" dirty="0"/>
          </a:p>
        </p:txBody>
      </p:sp>
      <p:sp>
        <p:nvSpPr>
          <p:cNvPr id="7" name="Text 5"/>
          <p:cNvSpPr/>
          <p:nvPr/>
        </p:nvSpPr>
        <p:spPr>
          <a:xfrm>
            <a:off x="1051084" y="4045625"/>
            <a:ext cx="3681770" cy="362903"/>
          </a:xfrm>
          <a:prstGeom prst="rect">
            <a:avLst/>
          </a:prstGeom>
          <a:noFill/>
          <a:ln/>
        </p:spPr>
        <p:txBody>
          <a:bodyPr wrap="none" lIns="0" tIns="0" rIns="0" bIns="0" rtlCol="0" anchor="t"/>
          <a:lstStyle/>
          <a:p>
            <a:pPr algn="l" indent="0" marL="0">
              <a:lnSpc>
                <a:spcPts val="2850"/>
              </a:lnSpc>
              <a:buNone/>
            </a:pPr>
            <a:r>
              <a:rPr lang="en-US" sz="1750" b="1" dirty="0">
                <a:solidFill>
                  <a:srgbClr val="2C3249"/>
                </a:solidFill>
                <a:latin typeface="Martel Sans" pitchFamily="34" charset="0"/>
                <a:ea typeface="Martel Sans" pitchFamily="34" charset="-122"/>
                <a:cs typeface="Martel Sans" pitchFamily="34" charset="-120"/>
              </a:rPr>
              <a:t>Conventional Methods</a:t>
            </a:r>
            <a:endParaRPr lang="en-US" sz="1750" dirty="0"/>
          </a:p>
        </p:txBody>
      </p:sp>
      <p:sp>
        <p:nvSpPr>
          <p:cNvPr id="8" name="Text 6"/>
          <p:cNvSpPr/>
          <p:nvPr/>
        </p:nvSpPr>
        <p:spPr>
          <a:xfrm>
            <a:off x="1051084" y="4544616"/>
            <a:ext cx="3681770" cy="1451610"/>
          </a:xfrm>
          <a:prstGeom prst="rect">
            <a:avLst/>
          </a:prstGeom>
          <a:noFill/>
          <a:ln/>
        </p:spPr>
        <p:txBody>
          <a:bodyPr wrap="square" lIns="0" tIns="0" rIns="0" bIns="0" rtlCol="0" anchor="t"/>
          <a:lstStyle/>
          <a:p>
            <a:pPr algn="l" indent="0" marL="0">
              <a:lnSpc>
                <a:spcPts val="2850"/>
              </a:lnSpc>
              <a:buNone/>
            </a:pPr>
            <a:r>
              <a:rPr lang="en-US" sz="1750" dirty="0">
                <a:solidFill>
                  <a:srgbClr val="2C3249"/>
                </a:solidFill>
                <a:latin typeface="Martel Sans" pitchFamily="34" charset="0"/>
                <a:ea typeface="Martel Sans" pitchFamily="34" charset="-122"/>
                <a:cs typeface="Martel Sans" pitchFamily="34" charset="-120"/>
              </a:rPr>
              <a:t>Identify visual artefacts, including face boundary inconsistencies, lighting irregularities, and shadow mismatches.</a:t>
            </a:r>
            <a:endParaRPr lang="en-US" sz="1750" dirty="0"/>
          </a:p>
        </p:txBody>
      </p:sp>
      <p:sp>
        <p:nvSpPr>
          <p:cNvPr id="9" name="Shape 7"/>
          <p:cNvSpPr/>
          <p:nvPr/>
        </p:nvSpPr>
        <p:spPr>
          <a:xfrm>
            <a:off x="5216962" y="3478649"/>
            <a:ext cx="4196358" cy="2774871"/>
          </a:xfrm>
          <a:prstGeom prst="roundRect">
            <a:avLst>
              <a:gd name="adj" fmla="val 5272"/>
            </a:avLst>
          </a:prstGeom>
          <a:solidFill>
            <a:srgbClr val="FFFFFF"/>
          </a:solidFill>
          <a:ln/>
        </p:spPr>
      </p:sp>
      <p:sp>
        <p:nvSpPr>
          <p:cNvPr id="10" name="Shape 8"/>
          <p:cNvSpPr/>
          <p:nvPr/>
        </p:nvSpPr>
        <p:spPr>
          <a:xfrm>
            <a:off x="5216962" y="3448169"/>
            <a:ext cx="4196358" cy="121920"/>
          </a:xfrm>
          <a:prstGeom prst="roundRect">
            <a:avLst>
              <a:gd name="adj" fmla="val 78139"/>
            </a:avLst>
          </a:prstGeom>
          <a:solidFill>
            <a:srgbClr val="437066"/>
          </a:solidFill>
          <a:ln/>
        </p:spPr>
      </p:sp>
      <p:sp>
        <p:nvSpPr>
          <p:cNvPr id="11" name="Shape 9"/>
          <p:cNvSpPr/>
          <p:nvPr/>
        </p:nvSpPr>
        <p:spPr>
          <a:xfrm>
            <a:off x="6974860" y="3138488"/>
            <a:ext cx="680442" cy="680442"/>
          </a:xfrm>
          <a:prstGeom prst="roundRect">
            <a:avLst>
              <a:gd name="adj" fmla="val 134383"/>
            </a:avLst>
          </a:prstGeom>
          <a:solidFill>
            <a:srgbClr val="437066"/>
          </a:solidFill>
          <a:ln/>
        </p:spPr>
      </p:sp>
      <p:sp>
        <p:nvSpPr>
          <p:cNvPr id="12" name="Text 10"/>
          <p:cNvSpPr/>
          <p:nvPr/>
        </p:nvSpPr>
        <p:spPr>
          <a:xfrm>
            <a:off x="7178933" y="3308628"/>
            <a:ext cx="272177" cy="340162"/>
          </a:xfrm>
          <a:prstGeom prst="rect">
            <a:avLst/>
          </a:prstGeom>
          <a:noFill/>
          <a:ln/>
        </p:spPr>
        <p:txBody>
          <a:bodyPr wrap="none" lIns="0" tIns="0" rIns="0" bIns="0" rtlCol="0" anchor="t"/>
          <a:lstStyle/>
          <a:p>
            <a:pPr algn="l" indent="0" marL="0">
              <a:lnSpc>
                <a:spcPts val="3400"/>
              </a:lnSpc>
              <a:buNone/>
            </a:pPr>
            <a:r>
              <a:rPr lang="en-US" sz="2100" dirty="0">
                <a:solidFill>
                  <a:srgbClr val="FFFFFF"/>
                </a:solidFill>
                <a:latin typeface="Kanit Light" pitchFamily="34" charset="0"/>
                <a:ea typeface="Kanit Light" pitchFamily="34" charset="-122"/>
                <a:cs typeface="Kanit Light" pitchFamily="34" charset="-120"/>
              </a:rPr>
              <a:t>2</a:t>
            </a:r>
            <a:endParaRPr lang="en-US" sz="2100" dirty="0"/>
          </a:p>
        </p:txBody>
      </p:sp>
      <p:sp>
        <p:nvSpPr>
          <p:cNvPr id="13" name="Text 11"/>
          <p:cNvSpPr/>
          <p:nvPr/>
        </p:nvSpPr>
        <p:spPr>
          <a:xfrm>
            <a:off x="5474256" y="4045625"/>
            <a:ext cx="3681770" cy="362903"/>
          </a:xfrm>
          <a:prstGeom prst="rect">
            <a:avLst/>
          </a:prstGeom>
          <a:noFill/>
          <a:ln/>
        </p:spPr>
        <p:txBody>
          <a:bodyPr wrap="none" lIns="0" tIns="0" rIns="0" bIns="0" rtlCol="0" anchor="t"/>
          <a:lstStyle/>
          <a:p>
            <a:pPr algn="l" indent="0" marL="0">
              <a:lnSpc>
                <a:spcPts val="2850"/>
              </a:lnSpc>
              <a:buNone/>
            </a:pPr>
            <a:r>
              <a:rPr lang="en-US" sz="1750" b="1" dirty="0">
                <a:solidFill>
                  <a:srgbClr val="2C3249"/>
                </a:solidFill>
                <a:latin typeface="Martel Sans" pitchFamily="34" charset="0"/>
                <a:ea typeface="Martel Sans" pitchFamily="34" charset="-122"/>
                <a:cs typeface="Martel Sans" pitchFamily="34" charset="-120"/>
              </a:rPr>
              <a:t>Deep Learning</a:t>
            </a:r>
            <a:endParaRPr lang="en-US" sz="1750" dirty="0"/>
          </a:p>
        </p:txBody>
      </p:sp>
      <p:sp>
        <p:nvSpPr>
          <p:cNvPr id="14" name="Text 12"/>
          <p:cNvSpPr/>
          <p:nvPr/>
        </p:nvSpPr>
        <p:spPr>
          <a:xfrm>
            <a:off x="5474256" y="4544616"/>
            <a:ext cx="3681770" cy="1088708"/>
          </a:xfrm>
          <a:prstGeom prst="rect">
            <a:avLst/>
          </a:prstGeom>
          <a:noFill/>
          <a:ln/>
        </p:spPr>
        <p:txBody>
          <a:bodyPr wrap="square" lIns="0" tIns="0" rIns="0" bIns="0" rtlCol="0" anchor="t"/>
          <a:lstStyle/>
          <a:p>
            <a:pPr algn="l" indent="0" marL="0">
              <a:lnSpc>
                <a:spcPts val="2850"/>
              </a:lnSpc>
              <a:buNone/>
            </a:pPr>
            <a:r>
              <a:rPr lang="en-US" sz="1750" dirty="0">
                <a:solidFill>
                  <a:srgbClr val="2C3249"/>
                </a:solidFill>
                <a:latin typeface="Martel Sans" pitchFamily="34" charset="0"/>
                <a:ea typeface="Martel Sans" pitchFamily="34" charset="-122"/>
                <a:cs typeface="Martel Sans" pitchFamily="34" charset="-120"/>
              </a:rPr>
              <a:t>Use CNNs and Transformers to detect patterns that may indicate a deepfake.</a:t>
            </a:r>
            <a:endParaRPr lang="en-US" sz="1750" dirty="0"/>
          </a:p>
        </p:txBody>
      </p:sp>
      <p:sp>
        <p:nvSpPr>
          <p:cNvPr id="15" name="Shape 13"/>
          <p:cNvSpPr/>
          <p:nvPr/>
        </p:nvSpPr>
        <p:spPr>
          <a:xfrm>
            <a:off x="9640133" y="3478649"/>
            <a:ext cx="4196358" cy="2774871"/>
          </a:xfrm>
          <a:prstGeom prst="roundRect">
            <a:avLst>
              <a:gd name="adj" fmla="val 5272"/>
            </a:avLst>
          </a:prstGeom>
          <a:solidFill>
            <a:srgbClr val="FFFFFF"/>
          </a:solidFill>
          <a:ln/>
        </p:spPr>
      </p:sp>
      <p:sp>
        <p:nvSpPr>
          <p:cNvPr id="16" name="Shape 14"/>
          <p:cNvSpPr/>
          <p:nvPr/>
        </p:nvSpPr>
        <p:spPr>
          <a:xfrm>
            <a:off x="9640133" y="3448169"/>
            <a:ext cx="4196358" cy="121920"/>
          </a:xfrm>
          <a:prstGeom prst="roundRect">
            <a:avLst>
              <a:gd name="adj" fmla="val 78139"/>
            </a:avLst>
          </a:prstGeom>
          <a:solidFill>
            <a:srgbClr val="437066"/>
          </a:solidFill>
          <a:ln/>
        </p:spPr>
      </p:sp>
      <p:sp>
        <p:nvSpPr>
          <p:cNvPr id="17" name="Shape 15"/>
          <p:cNvSpPr/>
          <p:nvPr/>
        </p:nvSpPr>
        <p:spPr>
          <a:xfrm>
            <a:off x="11398032" y="3138488"/>
            <a:ext cx="680442" cy="680442"/>
          </a:xfrm>
          <a:prstGeom prst="roundRect">
            <a:avLst>
              <a:gd name="adj" fmla="val 134383"/>
            </a:avLst>
          </a:prstGeom>
          <a:solidFill>
            <a:srgbClr val="437066"/>
          </a:solidFill>
          <a:ln/>
        </p:spPr>
      </p:sp>
      <p:sp>
        <p:nvSpPr>
          <p:cNvPr id="18" name="Text 16"/>
          <p:cNvSpPr/>
          <p:nvPr/>
        </p:nvSpPr>
        <p:spPr>
          <a:xfrm>
            <a:off x="11602105" y="3308628"/>
            <a:ext cx="272177" cy="340162"/>
          </a:xfrm>
          <a:prstGeom prst="rect">
            <a:avLst/>
          </a:prstGeom>
          <a:noFill/>
          <a:ln/>
        </p:spPr>
        <p:txBody>
          <a:bodyPr wrap="none" lIns="0" tIns="0" rIns="0" bIns="0" rtlCol="0" anchor="t"/>
          <a:lstStyle/>
          <a:p>
            <a:pPr algn="l" indent="0" marL="0">
              <a:lnSpc>
                <a:spcPts val="3400"/>
              </a:lnSpc>
              <a:buNone/>
            </a:pPr>
            <a:r>
              <a:rPr lang="en-US" sz="2100" dirty="0">
                <a:solidFill>
                  <a:srgbClr val="FFFFFF"/>
                </a:solidFill>
                <a:latin typeface="Kanit Light" pitchFamily="34" charset="0"/>
                <a:ea typeface="Kanit Light" pitchFamily="34" charset="-122"/>
                <a:cs typeface="Kanit Light" pitchFamily="34" charset="-120"/>
              </a:rPr>
              <a:t>3</a:t>
            </a:r>
            <a:endParaRPr lang="en-US" sz="2100" dirty="0"/>
          </a:p>
        </p:txBody>
      </p:sp>
      <p:sp>
        <p:nvSpPr>
          <p:cNvPr id="19" name="Text 17"/>
          <p:cNvSpPr/>
          <p:nvPr/>
        </p:nvSpPr>
        <p:spPr>
          <a:xfrm>
            <a:off x="9897427" y="4045625"/>
            <a:ext cx="3681770" cy="362903"/>
          </a:xfrm>
          <a:prstGeom prst="rect">
            <a:avLst/>
          </a:prstGeom>
          <a:noFill/>
          <a:ln/>
        </p:spPr>
        <p:txBody>
          <a:bodyPr wrap="none" lIns="0" tIns="0" rIns="0" bIns="0" rtlCol="0" anchor="t"/>
          <a:lstStyle/>
          <a:p>
            <a:pPr algn="l" indent="0" marL="0">
              <a:lnSpc>
                <a:spcPts val="2850"/>
              </a:lnSpc>
              <a:buNone/>
            </a:pPr>
            <a:r>
              <a:rPr lang="en-US" sz="1750" b="1" dirty="0">
                <a:solidFill>
                  <a:srgbClr val="2C3249"/>
                </a:solidFill>
                <a:latin typeface="Martel Sans" pitchFamily="34" charset="0"/>
                <a:ea typeface="Martel Sans" pitchFamily="34" charset="-122"/>
                <a:cs typeface="Martel Sans" pitchFamily="34" charset="-120"/>
              </a:rPr>
              <a:t>Multimodal</a:t>
            </a:r>
            <a:endParaRPr lang="en-US" sz="1750" dirty="0"/>
          </a:p>
        </p:txBody>
      </p:sp>
      <p:sp>
        <p:nvSpPr>
          <p:cNvPr id="20" name="Text 18"/>
          <p:cNvSpPr/>
          <p:nvPr/>
        </p:nvSpPr>
        <p:spPr>
          <a:xfrm>
            <a:off x="9897427" y="4544616"/>
            <a:ext cx="3681770" cy="725805"/>
          </a:xfrm>
          <a:prstGeom prst="rect">
            <a:avLst/>
          </a:prstGeom>
          <a:noFill/>
          <a:ln/>
        </p:spPr>
        <p:txBody>
          <a:bodyPr wrap="square" lIns="0" tIns="0" rIns="0" bIns="0" rtlCol="0" anchor="t"/>
          <a:lstStyle/>
          <a:p>
            <a:pPr algn="l" indent="0" marL="0">
              <a:lnSpc>
                <a:spcPts val="2850"/>
              </a:lnSpc>
              <a:buNone/>
            </a:pPr>
            <a:r>
              <a:rPr lang="en-US" sz="1750" dirty="0">
                <a:solidFill>
                  <a:srgbClr val="2C3249"/>
                </a:solidFill>
                <a:latin typeface="Martel Sans" pitchFamily="34" charset="0"/>
                <a:ea typeface="Martel Sans" pitchFamily="34" charset="-122"/>
                <a:cs typeface="Martel Sans" pitchFamily="34" charset="-120"/>
              </a:rPr>
              <a:t>Compare audio and video jointly to identify inconsistencies.</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FDFE0"/>
          </a:solidFill>
          <a:ln/>
        </p:spPr>
      </p:sp>
      <p:pic>
        <p:nvPicPr>
          <p:cNvPr id="3"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4" name="Text 1"/>
          <p:cNvSpPr/>
          <p:nvPr/>
        </p:nvSpPr>
        <p:spPr>
          <a:xfrm>
            <a:off x="984409" y="857250"/>
            <a:ext cx="7907655" cy="573405"/>
          </a:xfrm>
          <a:prstGeom prst="rect">
            <a:avLst/>
          </a:prstGeom>
          <a:noFill/>
          <a:ln/>
        </p:spPr>
        <p:txBody>
          <a:bodyPr wrap="none" lIns="0" tIns="0" rIns="0" bIns="0" rtlCol="0" anchor="t"/>
          <a:lstStyle/>
          <a:p>
            <a:pPr algn="l" indent="0" marL="0">
              <a:lnSpc>
                <a:spcPts val="4500"/>
              </a:lnSpc>
              <a:buNone/>
            </a:pPr>
            <a:r>
              <a:rPr lang="en-US" sz="3600" dirty="0">
                <a:solidFill>
                  <a:srgbClr val="272D45"/>
                </a:solidFill>
                <a:latin typeface="Kanit Light" pitchFamily="34" charset="0"/>
                <a:ea typeface="Kanit Light" pitchFamily="34" charset="-122"/>
                <a:cs typeface="Kanit Light" pitchFamily="34" charset="-120"/>
              </a:rPr>
              <a:t>Research Trends (Bibliometric Analysis)</a:t>
            </a:r>
            <a:endParaRPr lang="en-US" sz="3600" dirty="0"/>
          </a:p>
        </p:txBody>
      </p:sp>
      <p:sp>
        <p:nvSpPr>
          <p:cNvPr id="5" name="Text 2"/>
          <p:cNvSpPr/>
          <p:nvPr/>
        </p:nvSpPr>
        <p:spPr>
          <a:xfrm>
            <a:off x="984409" y="1653302"/>
            <a:ext cx="12661583" cy="265509"/>
          </a:xfrm>
          <a:prstGeom prst="rect">
            <a:avLst/>
          </a:prstGeom>
          <a:noFill/>
          <a:ln/>
        </p:spPr>
        <p:txBody>
          <a:bodyPr wrap="none" lIns="0" tIns="0" rIns="0" bIns="0" rtlCol="0" anchor="t"/>
          <a:lstStyle/>
          <a:p>
            <a:pPr algn="l" indent="0" marL="0">
              <a:lnSpc>
                <a:spcPts val="2050"/>
              </a:lnSpc>
              <a:buNone/>
            </a:pPr>
            <a:r>
              <a:rPr lang="en-US" sz="1400" dirty="0">
                <a:solidFill>
                  <a:srgbClr val="2C3249"/>
                </a:solidFill>
                <a:latin typeface="Martel Sans" pitchFamily="34" charset="0"/>
                <a:ea typeface="Martel Sans" pitchFamily="34" charset="-122"/>
                <a:cs typeface="Martel Sans" pitchFamily="34" charset="-120"/>
              </a:rPr>
              <a:t>Data Source: Scopus | 2,214 English papers | 2018 – Jan 2026</a:t>
            </a:r>
            <a:endParaRPr lang="en-US" sz="1400" dirty="0"/>
          </a:p>
        </p:txBody>
      </p:sp>
      <p:pic>
        <p:nvPicPr>
          <p:cNvPr id="6" name="Image 1" descr="preencoded.png">    </p:cNvPr>
          <p:cNvPicPr>
            <a:picLocks noChangeAspect="1"/>
          </p:cNvPicPr>
          <p:nvPr/>
        </p:nvPicPr>
        <p:blipFill>
          <a:blip r:embed="rId2"/>
          <a:stretch>
            <a:fillRect/>
          </a:stretch>
        </p:blipFill>
        <p:spPr>
          <a:xfrm>
            <a:off x="2205157" y="2252663"/>
            <a:ext cx="5107424" cy="3618309"/>
          </a:xfrm>
          <a:prstGeom prst="rect">
            <a:avLst/>
          </a:prstGeom>
        </p:spPr>
      </p:pic>
      <p:sp>
        <p:nvSpPr>
          <p:cNvPr id="7" name="Text 3"/>
          <p:cNvSpPr/>
          <p:nvPr/>
        </p:nvSpPr>
        <p:spPr>
          <a:xfrm>
            <a:off x="8988623" y="2219325"/>
            <a:ext cx="4664869" cy="265509"/>
          </a:xfrm>
          <a:prstGeom prst="rect">
            <a:avLst/>
          </a:prstGeom>
          <a:noFill/>
          <a:ln/>
        </p:spPr>
        <p:txBody>
          <a:bodyPr wrap="none" lIns="0" tIns="0" rIns="0" bIns="0" rtlCol="0" anchor="t"/>
          <a:lstStyle/>
          <a:p>
            <a:pPr algn="l" indent="0" marL="0">
              <a:lnSpc>
                <a:spcPts val="2050"/>
              </a:lnSpc>
              <a:buNone/>
            </a:pPr>
            <a:r>
              <a:rPr lang="en-US" sz="1400" b="1" dirty="0">
                <a:solidFill>
                  <a:srgbClr val="2C3249"/>
                </a:solidFill>
                <a:latin typeface="Martel Sans" pitchFamily="34" charset="0"/>
                <a:ea typeface="Martel Sans" pitchFamily="34" charset="-122"/>
                <a:cs typeface="Martel Sans" pitchFamily="34" charset="-120"/>
              </a:rPr>
              <a:t>Publication Growth (Fig. 1a):</a:t>
            </a:r>
            <a:endParaRPr lang="en-US" sz="1400" dirty="0"/>
          </a:p>
        </p:txBody>
      </p:sp>
      <p:sp>
        <p:nvSpPr>
          <p:cNvPr id="8" name="Text 4"/>
          <p:cNvSpPr/>
          <p:nvPr/>
        </p:nvSpPr>
        <p:spPr>
          <a:xfrm>
            <a:off x="8988623" y="2618423"/>
            <a:ext cx="4664869" cy="1483281"/>
          </a:xfrm>
          <a:prstGeom prst="rect">
            <a:avLst/>
          </a:prstGeom>
          <a:noFill/>
          <a:ln/>
        </p:spPr>
        <p:txBody>
          <a:bodyPr wrap="square" lIns="0" tIns="0" rIns="0" bIns="0" rtlCol="0" anchor="t"/>
          <a:lstStyle/>
          <a:p>
            <a:pPr algn="l" marL="342900" indent="-342900">
              <a:lnSpc>
                <a:spcPts val="2050"/>
              </a:lnSpc>
              <a:buSzPct val="100000"/>
              <a:buChar char="•"/>
            </a:pPr>
            <a:r>
              <a:rPr lang="en-US" sz="1400" dirty="0">
                <a:solidFill>
                  <a:srgbClr val="2C3249"/>
                </a:solidFill>
                <a:latin typeface="Martel Sans" pitchFamily="34" charset="0"/>
                <a:ea typeface="Martel Sans" pitchFamily="34" charset="-122"/>
                <a:cs typeface="Martel Sans" pitchFamily="34" charset="-120"/>
              </a:rPr>
              <a:t>2018–2019: ~8 papers (negligible).</a:t>
            </a:r>
            <a:endParaRPr lang="en-US" sz="1400" dirty="0"/>
          </a:p>
          <a:p>
            <a:pPr algn="l" marL="342900" indent="-342900">
              <a:lnSpc>
                <a:spcPts val="2050"/>
              </a:lnSpc>
              <a:buSzPct val="100000"/>
              <a:buChar char="•"/>
            </a:pPr>
            <a:r>
              <a:rPr lang="en-US" sz="1400" dirty="0">
                <a:solidFill>
                  <a:srgbClr val="2C3249"/>
                </a:solidFill>
                <a:latin typeface="Martel Sans" pitchFamily="34" charset="0"/>
                <a:ea typeface="Martel Sans" pitchFamily="34" charset="-122"/>
                <a:cs typeface="Martel Sans" pitchFamily="34" charset="-120"/>
              </a:rPr>
              <a:t>2020: ~75 papers.</a:t>
            </a:r>
            <a:endParaRPr lang="en-US" sz="1400" dirty="0"/>
          </a:p>
          <a:p>
            <a:pPr algn="l" marL="342900" indent="-342900">
              <a:lnSpc>
                <a:spcPts val="2050"/>
              </a:lnSpc>
              <a:buSzPct val="100000"/>
              <a:buChar char="•"/>
            </a:pPr>
            <a:r>
              <a:rPr lang="en-US" sz="1400" dirty="0">
                <a:solidFill>
                  <a:srgbClr val="2C3249"/>
                </a:solidFill>
                <a:latin typeface="Martel Sans" pitchFamily="34" charset="0"/>
                <a:ea typeface="Martel Sans" pitchFamily="34" charset="-122"/>
                <a:cs typeface="Martel Sans" pitchFamily="34" charset="-120"/>
              </a:rPr>
              <a:t>2025: ~700 papers → 9x growth in 5 years.</a:t>
            </a:r>
            <a:endParaRPr lang="en-US" sz="1400" dirty="0"/>
          </a:p>
          <a:p>
            <a:pPr algn="l" marL="342900" indent="-342900">
              <a:lnSpc>
                <a:spcPts val="2050"/>
              </a:lnSpc>
              <a:buSzPct val="100000"/>
              <a:buChar char="•"/>
            </a:pPr>
            <a:r>
              <a:rPr lang="en-US" sz="1400" dirty="0">
                <a:solidFill>
                  <a:srgbClr val="2C3249"/>
                </a:solidFill>
                <a:latin typeface="Martel Sans" pitchFamily="34" charset="0"/>
                <a:ea typeface="Martel Sans" pitchFamily="34" charset="-122"/>
                <a:cs typeface="Martel Sans" pitchFamily="34" charset="-120"/>
              </a:rPr>
              <a:t>Driven by: open-source tools, GAN advances, public concern.</a:t>
            </a:r>
            <a:endParaRPr lang="en-US" sz="1400" dirty="0"/>
          </a:p>
        </p:txBody>
      </p:sp>
      <p:sp>
        <p:nvSpPr>
          <p:cNvPr id="9" name="Text 5"/>
          <p:cNvSpPr/>
          <p:nvPr/>
        </p:nvSpPr>
        <p:spPr>
          <a:xfrm>
            <a:off x="8988623" y="4235291"/>
            <a:ext cx="4664869" cy="265509"/>
          </a:xfrm>
          <a:prstGeom prst="rect">
            <a:avLst/>
          </a:prstGeom>
          <a:noFill/>
          <a:ln/>
        </p:spPr>
        <p:txBody>
          <a:bodyPr wrap="none" lIns="0" tIns="0" rIns="0" bIns="0" rtlCol="0" anchor="t"/>
          <a:lstStyle/>
          <a:p>
            <a:pPr algn="l" indent="0" marL="0">
              <a:lnSpc>
                <a:spcPts val="2050"/>
              </a:lnSpc>
              <a:buNone/>
            </a:pPr>
            <a:r>
              <a:rPr lang="en-US" sz="1400" b="1" dirty="0">
                <a:solidFill>
                  <a:srgbClr val="2C3249"/>
                </a:solidFill>
                <a:latin typeface="Martel Sans" pitchFamily="34" charset="0"/>
                <a:ea typeface="Martel Sans" pitchFamily="34" charset="-122"/>
                <a:cs typeface="Martel Sans" pitchFamily="34" charset="-120"/>
              </a:rPr>
              <a:t>Top Publication Venues (Fig. 1b):</a:t>
            </a:r>
            <a:endParaRPr lang="en-US" sz="1400" dirty="0"/>
          </a:p>
        </p:txBody>
      </p:sp>
      <p:sp>
        <p:nvSpPr>
          <p:cNvPr id="10" name="Text 6"/>
          <p:cNvSpPr/>
          <p:nvPr/>
        </p:nvSpPr>
        <p:spPr>
          <a:xfrm>
            <a:off x="8988623" y="4634389"/>
            <a:ext cx="4664869" cy="531019"/>
          </a:xfrm>
          <a:prstGeom prst="rect">
            <a:avLst/>
          </a:prstGeom>
          <a:noFill/>
          <a:ln/>
        </p:spPr>
        <p:txBody>
          <a:bodyPr wrap="square" lIns="0" tIns="0" rIns="0" bIns="0" rtlCol="0" anchor="t"/>
          <a:lstStyle/>
          <a:p>
            <a:pPr algn="l" marL="342900" indent="-342900">
              <a:lnSpc>
                <a:spcPts val="2050"/>
              </a:lnSpc>
              <a:buSzPct val="100000"/>
              <a:buChar char="•"/>
            </a:pPr>
            <a:r>
              <a:rPr lang="en-US" sz="1400" dirty="0">
                <a:solidFill>
                  <a:srgbClr val="2C3249"/>
                </a:solidFill>
                <a:latin typeface="Martel Sans" pitchFamily="34" charset="0"/>
                <a:ea typeface="Martel Sans" pitchFamily="34" charset="-122"/>
                <a:cs typeface="Martel Sans" pitchFamily="34" charset="-120"/>
              </a:rPr>
              <a:t>LNCS (163), LNNS (130), IEEE ICASSP (73), INTERSPEECH (71).</a:t>
            </a:r>
            <a:endParaRPr lang="en-US" sz="1400" dirty="0"/>
          </a:p>
        </p:txBody>
      </p:sp>
      <p:sp>
        <p:nvSpPr>
          <p:cNvPr id="11" name="Text 7"/>
          <p:cNvSpPr/>
          <p:nvPr/>
        </p:nvSpPr>
        <p:spPr>
          <a:xfrm>
            <a:off x="984409" y="6338411"/>
            <a:ext cx="6106954" cy="265509"/>
          </a:xfrm>
          <a:prstGeom prst="rect">
            <a:avLst/>
          </a:prstGeom>
          <a:noFill/>
          <a:ln/>
        </p:spPr>
        <p:txBody>
          <a:bodyPr wrap="none" lIns="0" tIns="0" rIns="0" bIns="0" rtlCol="0" anchor="t"/>
          <a:lstStyle/>
          <a:p>
            <a:pPr algn="l" indent="0" marL="0">
              <a:lnSpc>
                <a:spcPts val="2050"/>
              </a:lnSpc>
              <a:buNone/>
            </a:pPr>
            <a:r>
              <a:rPr lang="en-US" sz="1400" b="1" dirty="0">
                <a:solidFill>
                  <a:srgbClr val="2C3249"/>
                </a:solidFill>
                <a:latin typeface="Martel Sans" pitchFamily="34" charset="0"/>
                <a:ea typeface="Martel Sans" pitchFamily="34" charset="-122"/>
                <a:cs typeface="Martel Sans" pitchFamily="34" charset="-120"/>
              </a:rPr>
              <a:t>Most Cited Papers (Fig. 1c):</a:t>
            </a:r>
            <a:endParaRPr lang="en-US" sz="1400" dirty="0"/>
          </a:p>
        </p:txBody>
      </p:sp>
      <p:sp>
        <p:nvSpPr>
          <p:cNvPr id="12" name="Text 8"/>
          <p:cNvSpPr/>
          <p:nvPr/>
        </p:nvSpPr>
        <p:spPr>
          <a:xfrm>
            <a:off x="984409" y="6737509"/>
            <a:ext cx="6106954" cy="582930"/>
          </a:xfrm>
          <a:prstGeom prst="rect">
            <a:avLst/>
          </a:prstGeom>
          <a:noFill/>
          <a:ln/>
        </p:spPr>
        <p:txBody>
          <a:bodyPr wrap="square" lIns="0" tIns="0" rIns="0" bIns="0" rtlCol="0" anchor="t"/>
          <a:lstStyle/>
          <a:p>
            <a:pPr algn="l" marL="342900" indent="-342900">
              <a:lnSpc>
                <a:spcPts val="2050"/>
              </a:lnSpc>
              <a:buSzPct val="100000"/>
              <a:buChar char="•"/>
            </a:pPr>
            <a:r>
              <a:rPr lang="en-US" sz="1400" dirty="0">
                <a:solidFill>
                  <a:srgbClr val="2C3249"/>
                </a:solidFill>
                <a:latin typeface="Martel Sans" pitchFamily="34" charset="0"/>
                <a:ea typeface="Martel Sans" pitchFamily="34" charset="-122"/>
                <a:cs typeface="Martel Sans" pitchFamily="34" charset="-120"/>
              </a:rPr>
              <a:t>MesoNet (1,450 citations) | Celeb-DF (1,350 citations).</a:t>
            </a:r>
            <a:endParaRPr lang="en-US" sz="1400" dirty="0"/>
          </a:p>
          <a:p>
            <a:pPr algn="l" marL="342900" indent="-342900">
              <a:lnSpc>
                <a:spcPts val="2050"/>
              </a:lnSpc>
              <a:buSzPct val="100000"/>
              <a:buChar char="•"/>
            </a:pPr>
            <a:r>
              <a:rPr lang="en-US" sz="1400" dirty="0">
                <a:solidFill>
                  <a:srgbClr val="2C3249"/>
                </a:solidFill>
                <a:latin typeface="Martel Sans" pitchFamily="34" charset="0"/>
                <a:ea typeface="Martel Sans" pitchFamily="34" charset="-122"/>
                <a:cs typeface="Martel Sans" pitchFamily="34" charset="-120"/>
              </a:rPr>
              <a:t>Mid-tier: Head pose, recurrent, and face X-ray (~975 each).</a:t>
            </a:r>
            <a:endParaRPr lang="en-US" sz="1400" dirty="0"/>
          </a:p>
        </p:txBody>
      </p:sp>
      <p:sp>
        <p:nvSpPr>
          <p:cNvPr id="13" name="Text 9"/>
          <p:cNvSpPr/>
          <p:nvPr/>
        </p:nvSpPr>
        <p:spPr>
          <a:xfrm>
            <a:off x="7546658" y="6338411"/>
            <a:ext cx="6106954" cy="265509"/>
          </a:xfrm>
          <a:prstGeom prst="rect">
            <a:avLst/>
          </a:prstGeom>
          <a:noFill/>
          <a:ln/>
        </p:spPr>
        <p:txBody>
          <a:bodyPr wrap="none" lIns="0" tIns="0" rIns="0" bIns="0" rtlCol="0" anchor="t"/>
          <a:lstStyle/>
          <a:p>
            <a:pPr algn="l" indent="0" marL="0">
              <a:lnSpc>
                <a:spcPts val="2050"/>
              </a:lnSpc>
              <a:buNone/>
            </a:pPr>
            <a:r>
              <a:rPr lang="en-US" sz="1400" b="1" dirty="0">
                <a:solidFill>
                  <a:srgbClr val="2C3249"/>
                </a:solidFill>
                <a:latin typeface="Martel Sans" pitchFamily="34" charset="0"/>
                <a:ea typeface="Martel Sans" pitchFamily="34" charset="-122"/>
                <a:cs typeface="Martel Sans" pitchFamily="34" charset="-120"/>
              </a:rPr>
              <a:t>Top Authors (Fig. 1d):</a:t>
            </a:r>
            <a:endParaRPr lang="en-US" sz="1400" dirty="0"/>
          </a:p>
        </p:txBody>
      </p:sp>
      <p:sp>
        <p:nvSpPr>
          <p:cNvPr id="14" name="Text 10"/>
          <p:cNvSpPr/>
          <p:nvPr/>
        </p:nvSpPr>
        <p:spPr>
          <a:xfrm>
            <a:off x="7546658" y="6737509"/>
            <a:ext cx="6106954" cy="265509"/>
          </a:xfrm>
          <a:prstGeom prst="rect">
            <a:avLst/>
          </a:prstGeom>
          <a:noFill/>
          <a:ln/>
        </p:spPr>
        <p:txBody>
          <a:bodyPr wrap="none" lIns="0" tIns="0" rIns="0" bIns="0" rtlCol="0" anchor="t"/>
          <a:lstStyle/>
          <a:p>
            <a:pPr algn="l" marL="342900" indent="-342900">
              <a:lnSpc>
                <a:spcPts val="2050"/>
              </a:lnSpc>
              <a:buSzPct val="100000"/>
              <a:buChar char="•"/>
            </a:pPr>
            <a:r>
              <a:rPr lang="en-US" sz="1400" dirty="0">
                <a:solidFill>
                  <a:srgbClr val="2C3249"/>
                </a:solidFill>
                <a:latin typeface="Martel Sans" pitchFamily="34" charset="0"/>
                <a:ea typeface="Martel Sans" pitchFamily="34" charset="-122"/>
                <a:cs typeface="Martel Sans" pitchFamily="34" charset="-120"/>
              </a:rPr>
              <a:t>Wang, X. (41 papers) | Chen, Y. &amp; Wang, Y. (32 each).</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978700"/>
            <a:ext cx="6643330" cy="708779"/>
          </a:xfrm>
          <a:prstGeom prst="rect">
            <a:avLst/>
          </a:prstGeom>
          <a:noFill/>
          <a:ln/>
        </p:spPr>
        <p:txBody>
          <a:bodyPr wrap="none" lIns="0" tIns="0" rIns="0" bIns="0" rtlCol="0" anchor="t"/>
          <a:lstStyle/>
          <a:p>
            <a:pPr algn="l" indent="0" marL="0">
              <a:lnSpc>
                <a:spcPts val="5550"/>
              </a:lnSpc>
              <a:buNone/>
            </a:pPr>
            <a:r>
              <a:rPr lang="en-US" sz="4450" dirty="0">
                <a:solidFill>
                  <a:srgbClr val="272D45"/>
                </a:solidFill>
                <a:latin typeface="Kanit Light" pitchFamily="34" charset="0"/>
                <a:ea typeface="Kanit Light" pitchFamily="34" charset="-122"/>
                <a:cs typeface="Kanit Light" pitchFamily="34" charset="-120"/>
              </a:rPr>
              <a:t>Future Research Directions</a:t>
            </a:r>
            <a:endParaRPr lang="en-US" sz="4450" dirty="0"/>
          </a:p>
        </p:txBody>
      </p:sp>
      <p:sp>
        <p:nvSpPr>
          <p:cNvPr id="3" name="Text 1"/>
          <p:cNvSpPr/>
          <p:nvPr/>
        </p:nvSpPr>
        <p:spPr>
          <a:xfrm>
            <a:off x="793790" y="3254454"/>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72D45"/>
                </a:solidFill>
                <a:latin typeface="Kanit Light" pitchFamily="34" charset="0"/>
                <a:ea typeface="Kanit Light" pitchFamily="34" charset="-122"/>
                <a:cs typeface="Kanit Light" pitchFamily="34" charset="-120"/>
              </a:rPr>
              <a:t>Current Limitations</a:t>
            </a:r>
            <a:endParaRPr lang="en-US" sz="2200" dirty="0"/>
          </a:p>
        </p:txBody>
      </p:sp>
      <p:sp>
        <p:nvSpPr>
          <p:cNvPr id="4" name="Text 2"/>
          <p:cNvSpPr/>
          <p:nvPr/>
        </p:nvSpPr>
        <p:spPr>
          <a:xfrm>
            <a:off x="793790" y="3835598"/>
            <a:ext cx="6244709" cy="2336006"/>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Existing datasets have demographic imbalance, affecting detection model fairness.</a:t>
            </a:r>
            <a:endParaRPr lang="en-US" sz="1750" dirty="0"/>
          </a:p>
          <a:p>
            <a:pPr algn="l" marL="342900" indent="-342900">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Diffusion-based synthesis has outpaced most detection methods.</a:t>
            </a:r>
            <a:endParaRPr lang="en-US" sz="1750" dirty="0"/>
          </a:p>
          <a:p>
            <a:pPr algn="l" marL="342900" indent="-342900">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Generalization remains limited across platforms, modalities, and unseen manipulation techniques.</a:t>
            </a:r>
            <a:endParaRPr lang="en-US" sz="1750" dirty="0"/>
          </a:p>
        </p:txBody>
      </p:sp>
      <p:sp>
        <p:nvSpPr>
          <p:cNvPr id="5" name="Text 3"/>
          <p:cNvSpPr/>
          <p:nvPr/>
        </p:nvSpPr>
        <p:spPr>
          <a:xfrm>
            <a:off x="7599521" y="3254454"/>
            <a:ext cx="3192780" cy="354330"/>
          </a:xfrm>
          <a:prstGeom prst="rect">
            <a:avLst/>
          </a:prstGeom>
          <a:noFill/>
          <a:ln/>
        </p:spPr>
        <p:txBody>
          <a:bodyPr wrap="none" lIns="0" tIns="0" rIns="0" bIns="0" rtlCol="0" anchor="t"/>
          <a:lstStyle/>
          <a:p>
            <a:pPr algn="l" indent="0" marL="0">
              <a:lnSpc>
                <a:spcPts val="2750"/>
              </a:lnSpc>
              <a:buNone/>
            </a:pPr>
            <a:r>
              <a:rPr lang="en-US" sz="2200" dirty="0">
                <a:solidFill>
                  <a:srgbClr val="272D45"/>
                </a:solidFill>
                <a:latin typeface="Kanit Light" pitchFamily="34" charset="0"/>
                <a:ea typeface="Kanit Light" pitchFamily="34" charset="-122"/>
                <a:cs typeface="Kanit Light" pitchFamily="34" charset="-120"/>
              </a:rPr>
              <a:t>Future Research Priorities</a:t>
            </a:r>
            <a:endParaRPr lang="en-US" sz="2200" dirty="0"/>
          </a:p>
        </p:txBody>
      </p:sp>
      <p:sp>
        <p:nvSpPr>
          <p:cNvPr id="6" name="Text 4"/>
          <p:cNvSpPr/>
          <p:nvPr/>
        </p:nvSpPr>
        <p:spPr>
          <a:xfrm>
            <a:off x="7599521" y="3835598"/>
            <a:ext cx="6244709" cy="2336006"/>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Better detection for diffusion-generated synthetic media.</a:t>
            </a:r>
            <a:endParaRPr lang="en-US" sz="1750" dirty="0"/>
          </a:p>
          <a:p>
            <a:pPr algn="l" marL="342900" indent="-342900">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Multimodal deepfake detection across audio, video, and image.</a:t>
            </a:r>
            <a:endParaRPr lang="en-US" sz="1750" dirty="0"/>
          </a:p>
          <a:p>
            <a:pPr algn="l" marL="342900" indent="-342900">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Cross-sector collaboration between academia, industry, and government.</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360765"/>
            <a:ext cx="4835843" cy="566976"/>
          </a:xfrm>
          <a:prstGeom prst="rect">
            <a:avLst/>
          </a:prstGeom>
          <a:noFill/>
          <a:ln/>
        </p:spPr>
        <p:txBody>
          <a:bodyPr wrap="none" lIns="0" tIns="0" rIns="0" bIns="0" rtlCol="0" anchor="t"/>
          <a:lstStyle/>
          <a:p>
            <a:pPr algn="l" indent="0" marL="0">
              <a:lnSpc>
                <a:spcPts val="4450"/>
              </a:lnSpc>
              <a:buNone/>
            </a:pPr>
            <a:r>
              <a:rPr lang="en-US" sz="3550" dirty="0">
                <a:solidFill>
                  <a:srgbClr val="272D45"/>
                </a:solidFill>
                <a:latin typeface="Kanit Light" pitchFamily="34" charset="0"/>
                <a:ea typeface="Kanit Light" pitchFamily="34" charset="-122"/>
                <a:cs typeface="Kanit Light" pitchFamily="34" charset="-120"/>
              </a:rPr>
              <a:t>Conclusion &amp; Takeaways</a:t>
            </a:r>
            <a:endParaRPr lang="en-US" sz="3550" dirty="0"/>
          </a:p>
        </p:txBody>
      </p:sp>
      <p:sp>
        <p:nvSpPr>
          <p:cNvPr id="3" name="Text 1"/>
          <p:cNvSpPr/>
          <p:nvPr/>
        </p:nvSpPr>
        <p:spPr>
          <a:xfrm>
            <a:off x="793790" y="201846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272D45"/>
                </a:solidFill>
                <a:latin typeface="Kanit Light" pitchFamily="34" charset="0"/>
                <a:ea typeface="Kanit Light" pitchFamily="34" charset="-122"/>
                <a:cs typeface="Kanit Light" pitchFamily="34" charset="-120"/>
              </a:rPr>
              <a:t>Key Takeaways:</a:t>
            </a:r>
            <a:endParaRPr lang="en-US" sz="2200" dirty="0"/>
          </a:p>
        </p:txBody>
      </p:sp>
      <p:sp>
        <p:nvSpPr>
          <p:cNvPr id="4" name="Text 2"/>
          <p:cNvSpPr/>
          <p:nvPr/>
        </p:nvSpPr>
        <p:spPr>
          <a:xfrm>
            <a:off x="793790" y="2712958"/>
            <a:ext cx="13042821" cy="2573893"/>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Deepfakes evolved from a niche tool (2017) to a global security threat.</a:t>
            </a:r>
            <a:endParaRPr lang="en-US" sz="1750" dirty="0"/>
          </a:p>
          <a:p>
            <a:pPr algn="l" marL="342900" indent="-342900">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Three main generation methods: GANs, autoencoders, and diffusion models.</a:t>
            </a:r>
            <a:endParaRPr lang="en-US" sz="1750" dirty="0"/>
          </a:p>
          <a:p>
            <a:pPr algn="l" marL="342900" indent="-342900">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Detection has shifted: Forensic → Deep Learning → Multimodal.</a:t>
            </a:r>
            <a:endParaRPr lang="en-US" sz="1750" dirty="0"/>
          </a:p>
          <a:p>
            <a:pPr algn="l" marL="342900" indent="-342900">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Research increased </a:t>
            </a:r>
            <a:pPr algn="l" indent="0" marL="0">
              <a:lnSpc>
                <a:spcPts val="2850"/>
              </a:lnSpc>
              <a:buNone/>
            </a:pPr>
            <a:r>
              <a:rPr lang="en-US" sz="1750" b="1" dirty="0">
                <a:solidFill>
                  <a:srgbClr val="2C3249"/>
                </a:solidFill>
                <a:latin typeface="Martel Sans" pitchFamily="34" charset="0"/>
                <a:ea typeface="Martel Sans" pitchFamily="34" charset="-122"/>
                <a:cs typeface="Martel Sans" pitchFamily="34" charset="-120"/>
              </a:rPr>
              <a:t>9x in 5 years</a:t>
            </a:r>
            <a:pPr algn="l" indent="0" marL="0">
              <a:lnSpc>
                <a:spcPts val="2850"/>
              </a:lnSpc>
              <a:buNone/>
            </a:pPr>
            <a:r>
              <a:rPr lang="en-US" sz="1750" dirty="0">
                <a:solidFill>
                  <a:srgbClr val="2C3249"/>
                </a:solidFill>
                <a:latin typeface="Martel Sans" pitchFamily="34" charset="0"/>
                <a:ea typeface="Martel Sans" pitchFamily="34" charset="-122"/>
                <a:cs typeface="Martel Sans" pitchFamily="34" charset="-120"/>
              </a:rPr>
              <a:t> (2020–2025).</a:t>
            </a:r>
            <a:endParaRPr lang="en-US" sz="1750" dirty="0"/>
          </a:p>
          <a:p>
            <a:pPr algn="l" marL="342900" indent="-342900">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No single-modality detector is sufficient.</a:t>
            </a:r>
            <a:endParaRPr lang="en-US" sz="1750" dirty="0"/>
          </a:p>
          <a:p>
            <a:pPr algn="l" marL="342900" indent="-342900">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Multimodal and provenance-based approaches represent the future.</a:t>
            </a:r>
            <a:endParaRPr lang="en-US" sz="1750" dirty="0"/>
          </a:p>
        </p:txBody>
      </p:sp>
      <p:sp>
        <p:nvSpPr>
          <p:cNvPr id="5" name="Shape 3"/>
          <p:cNvSpPr/>
          <p:nvPr/>
        </p:nvSpPr>
        <p:spPr>
          <a:xfrm>
            <a:off x="793790" y="5542002"/>
            <a:ext cx="13042821" cy="1326713"/>
          </a:xfrm>
          <a:prstGeom prst="roundRect">
            <a:avLst>
              <a:gd name="adj" fmla="val 7181"/>
            </a:avLst>
          </a:prstGeom>
          <a:solidFill>
            <a:srgbClr val="CFE2DE"/>
          </a:solidFill>
          <a:ln/>
        </p:spPr>
      </p:sp>
      <p:pic>
        <p:nvPicPr>
          <p:cNvPr id="6" name="Image 0" descr="preencoded.png">    </p:cNvPr>
          <p:cNvPicPr>
            <a:picLocks noChangeAspect="1"/>
          </p:cNvPicPr>
          <p:nvPr/>
        </p:nvPicPr>
        <p:blipFill>
          <a:blip r:embed="rId1"/>
          <a:stretch>
            <a:fillRect/>
          </a:stretch>
        </p:blipFill>
        <p:spPr>
          <a:xfrm>
            <a:off x="1020604" y="5855613"/>
            <a:ext cx="283488" cy="226814"/>
          </a:xfrm>
          <a:prstGeom prst="rect">
            <a:avLst/>
          </a:prstGeom>
        </p:spPr>
      </p:pic>
      <p:sp>
        <p:nvSpPr>
          <p:cNvPr id="7" name="Text 4"/>
          <p:cNvSpPr/>
          <p:nvPr/>
        </p:nvSpPr>
        <p:spPr>
          <a:xfrm>
            <a:off x="1530906" y="5825490"/>
            <a:ext cx="12078891" cy="72580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Martel Sans" pitchFamily="34" charset="0"/>
                <a:ea typeface="Martel Sans" pitchFamily="34" charset="-122"/>
                <a:cs typeface="Martel Sans" pitchFamily="34" charset="-120"/>
              </a:rPr>
              <a:t>Final Statement: "As generative AI democratizes deepfake creation, detection must evolve faster — requiring collaboration across technology, policy, and society."</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93790" y="3221712"/>
            <a:ext cx="1455420" cy="716280"/>
          </a:xfrm>
          <a:prstGeom prst="rect">
            <a:avLst/>
          </a:prstGeom>
        </p:spPr>
      </p:pic>
      <p:sp>
        <p:nvSpPr>
          <p:cNvPr id="3" name="Text 0"/>
          <p:cNvSpPr/>
          <p:nvPr/>
        </p:nvSpPr>
        <p:spPr>
          <a:xfrm>
            <a:off x="4200406" y="3193375"/>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272D45"/>
                </a:solidFill>
                <a:latin typeface="Kanit Light" pitchFamily="34" charset="0"/>
                <a:ea typeface="Kanit Light" pitchFamily="34" charset="-122"/>
                <a:cs typeface="Kanit Light" pitchFamily="34" charset="-120"/>
              </a:rPr>
              <a:t>Thank You</a:t>
            </a:r>
            <a:endParaRPr lang="en-US" sz="4450" dirty="0"/>
          </a:p>
        </p:txBody>
      </p:sp>
      <p:sp>
        <p:nvSpPr>
          <p:cNvPr id="4" name="Text 1"/>
          <p:cNvSpPr/>
          <p:nvPr/>
        </p:nvSpPr>
        <p:spPr>
          <a:xfrm>
            <a:off x="4200406" y="4128968"/>
            <a:ext cx="9643705" cy="362903"/>
          </a:xfrm>
          <a:prstGeom prst="rect">
            <a:avLst/>
          </a:prstGeom>
          <a:noFill/>
          <a:ln/>
        </p:spPr>
        <p:txBody>
          <a:bodyPr wrap="none" lIns="0" tIns="0" rIns="0" bIns="0" rtlCol="0" anchor="t"/>
          <a:lstStyle/>
          <a:p>
            <a:pPr algn="l" indent="0" marL="0">
              <a:lnSpc>
                <a:spcPts val="2850"/>
              </a:lnSpc>
              <a:buNone/>
            </a:pPr>
            <a:r>
              <a:rPr lang="en-US" sz="1750" dirty="0">
                <a:solidFill>
                  <a:srgbClr val="2C3249"/>
                </a:solidFill>
                <a:latin typeface="Martel Sans" pitchFamily="34" charset="0"/>
                <a:ea typeface="Martel Sans" pitchFamily="34" charset="-122"/>
                <a:cs typeface="Martel Sans" pitchFamily="34" charset="-120"/>
              </a:rPr>
              <a:t>Thank you for your time and attention.</a:t>
            </a:r>
            <a:endParaRPr lang="en-US" sz="1750" dirty="0"/>
          </a:p>
        </p:txBody>
      </p:sp>
      <p:sp>
        <p:nvSpPr>
          <p:cNvPr id="5" name="Text 2"/>
          <p:cNvSpPr/>
          <p:nvPr/>
        </p:nvSpPr>
        <p:spPr>
          <a:xfrm>
            <a:off x="4200406" y="4695944"/>
            <a:ext cx="9643705" cy="362903"/>
          </a:xfrm>
          <a:prstGeom prst="rect">
            <a:avLst/>
          </a:prstGeom>
          <a:noFill/>
          <a:ln/>
        </p:spPr>
        <p:txBody>
          <a:bodyPr wrap="none" lIns="0" tIns="0" rIns="0" bIns="0" rtlCol="0" anchor="t"/>
          <a:lstStyle/>
          <a:p>
            <a:pPr algn="l" indent="0" marL="0">
              <a:lnSpc>
                <a:spcPts val="2850"/>
              </a:lnSpc>
              <a:buNone/>
            </a:pPr>
            <a:r>
              <a:rPr lang="en-US" sz="1750" b="1" dirty="0">
                <a:solidFill>
                  <a:srgbClr val="2C3249"/>
                </a:solidFill>
                <a:latin typeface="Martel Sans" pitchFamily="34" charset="0"/>
                <a:ea typeface="Martel Sans" pitchFamily="34" charset="-122"/>
                <a:cs typeface="Martel Sans" pitchFamily="34" charset="-120"/>
              </a:rPr>
              <a:t>Thota Neha</a:t>
            </a:r>
            <a:pPr algn="l" indent="0" marL="0">
              <a:lnSpc>
                <a:spcPts val="2850"/>
              </a:lnSpc>
              <a:buNone/>
            </a:pPr>
            <a:r>
              <a:rPr lang="en-US" sz="1750" dirty="0">
                <a:solidFill>
                  <a:srgbClr val="2C3249"/>
                </a:solidFill>
                <a:latin typeface="Martel Sans" pitchFamily="34" charset="0"/>
                <a:ea typeface="Martel Sans" pitchFamily="34" charset="-122"/>
                <a:cs typeface="Martel Sans" pitchFamily="34" charset="-120"/>
              </a:rPr>
              <a:t>- Paper ID: 1552</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2026-04-09T06:36:14Z</dcterms:created>
  <dcterms:modified xsi:type="dcterms:W3CDTF">2026-04-09T06:36:14Z</dcterms:modified>
</cp:coreProperties>
</file>